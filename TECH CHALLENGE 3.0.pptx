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2" r:id="rId3"/>
    <p:sldId id="259" r:id="rId4"/>
    <p:sldId id="284" r:id="rId5"/>
    <p:sldId id="260" r:id="rId6"/>
    <p:sldId id="292" r:id="rId7"/>
    <p:sldId id="261" r:id="rId8"/>
    <p:sldId id="289" r:id="rId9"/>
    <p:sldId id="287" r:id="rId10"/>
    <p:sldId id="262" r:id="rId11"/>
    <p:sldId id="288" r:id="rId12"/>
    <p:sldId id="291" r:id="rId13"/>
    <p:sldId id="294" r:id="rId14"/>
    <p:sldId id="293" r:id="rId15"/>
    <p:sldId id="290" r:id="rId16"/>
    <p:sldId id="268" r:id="rId17"/>
    <p:sldId id="271" r:id="rId18"/>
    <p:sldId id="272" r:id="rId19"/>
  </p:sldIdLst>
  <p:sldSz cx="12192000" cy="6858000"/>
  <p:notesSz cx="6858000" cy="9144000"/>
  <p:embeddedFontLst>
    <p:embeddedFont>
      <p:font typeface="Play" panose="020B0604020202020204" charset="0"/>
      <p:regular r:id="rId21"/>
      <p:bold r:id="rId22"/>
    </p:embeddedFont>
    <p:embeddedFont>
      <p:font typeface="Proxima Nova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DJEVZ63D7qHcUwuxBuzvAMwa3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6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8217D3AB-2FEF-B47A-FF4F-8E96EFB3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0B54A017-761E-375B-C1EE-BA88BFE4D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819C8F87-E8D5-2A0F-BD16-B2588DFED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6791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AA1AE24-E417-8510-5592-48E1B2C1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4D4E2235-DDA6-46F8-168E-3F9EBADCF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AAF92796-AA61-FA11-BEC0-631ACCC87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741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F58713A6-5413-01A4-5D6E-F90FD515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9FB0F525-AA09-05D5-4FFA-35E9413F4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9390B564-C144-B962-023C-820B5BEA6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AF5F31AF-B049-EC3E-5B66-DADA6F8956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514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0309B72C-EAFC-C1CD-233C-CBD9D6EA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>
            <a:extLst>
              <a:ext uri="{FF2B5EF4-FFF2-40B4-BE49-F238E27FC236}">
                <a16:creationId xmlns:a16="http://schemas.microsoft.com/office/drawing/2014/main" id="{B22BDBAD-A35F-081E-E1F8-AAD07333A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:notes">
            <a:extLst>
              <a:ext uri="{FF2B5EF4-FFF2-40B4-BE49-F238E27FC236}">
                <a16:creationId xmlns:a16="http://schemas.microsoft.com/office/drawing/2014/main" id="{9FEB3CFE-6292-CB9B-F359-DB6E8A764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643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67495FF0-C30C-9BCA-FB7B-E21C390B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>
            <a:extLst>
              <a:ext uri="{FF2B5EF4-FFF2-40B4-BE49-F238E27FC236}">
                <a16:creationId xmlns:a16="http://schemas.microsoft.com/office/drawing/2014/main" id="{5BE5F9A6-0037-F1A9-B92D-079FCBABD5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:notes">
            <a:extLst>
              <a:ext uri="{FF2B5EF4-FFF2-40B4-BE49-F238E27FC236}">
                <a16:creationId xmlns:a16="http://schemas.microsoft.com/office/drawing/2014/main" id="{F0A105FD-C05E-946D-EDDC-D362A50273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0158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5C608C3-A235-38AC-1AE8-4B31EF8A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806B6179-151D-E665-0F5C-94E1F3B10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>
            <a:extLst>
              <a:ext uri="{FF2B5EF4-FFF2-40B4-BE49-F238E27FC236}">
                <a16:creationId xmlns:a16="http://schemas.microsoft.com/office/drawing/2014/main" id="{502EA526-ED5E-A1DB-DC2B-050638017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>
            <a:extLst>
              <a:ext uri="{FF2B5EF4-FFF2-40B4-BE49-F238E27FC236}">
                <a16:creationId xmlns:a16="http://schemas.microsoft.com/office/drawing/2014/main" id="{D6D8FC28-2973-F93A-430E-DF1A052C45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4440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7BD7AB2-C0AC-5648-6B80-2D8B5FB1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14D8D043-7D1B-B6BB-63A9-0DE529EF5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>
            <a:extLst>
              <a:ext uri="{FF2B5EF4-FFF2-40B4-BE49-F238E27FC236}">
                <a16:creationId xmlns:a16="http://schemas.microsoft.com/office/drawing/2014/main" id="{2D082C18-7695-9B03-6276-5599800F8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>
            <a:extLst>
              <a:ext uri="{FF2B5EF4-FFF2-40B4-BE49-F238E27FC236}">
                <a16:creationId xmlns:a16="http://schemas.microsoft.com/office/drawing/2014/main" id="{38A1B279-9FAE-848E-2542-D51E8D782E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659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D30EFF3-2E55-C527-AC64-55FDC30B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B2EF3A52-C56B-E20A-5271-0C0905E1A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>
            <a:extLst>
              <a:ext uri="{FF2B5EF4-FFF2-40B4-BE49-F238E27FC236}">
                <a16:creationId xmlns:a16="http://schemas.microsoft.com/office/drawing/2014/main" id="{5E994AA2-2152-93B9-E59F-E43E225D2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>
            <a:extLst>
              <a:ext uri="{FF2B5EF4-FFF2-40B4-BE49-F238E27FC236}">
                <a16:creationId xmlns:a16="http://schemas.microsoft.com/office/drawing/2014/main" id="{02874C33-6BCF-32EB-D088-201D39970C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9666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7BD7AB2-C0AC-5648-6B80-2D8B5FB1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14D8D043-7D1B-B6BB-63A9-0DE529EF5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>
            <a:extLst>
              <a:ext uri="{FF2B5EF4-FFF2-40B4-BE49-F238E27FC236}">
                <a16:creationId xmlns:a16="http://schemas.microsoft.com/office/drawing/2014/main" id="{2D082C18-7695-9B03-6276-5599800F8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>
            <a:extLst>
              <a:ext uri="{FF2B5EF4-FFF2-40B4-BE49-F238E27FC236}">
                <a16:creationId xmlns:a16="http://schemas.microsoft.com/office/drawing/2014/main" id="{38A1B279-9FAE-848E-2542-D51E8D782E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659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92A09273-3DC3-65D3-05AA-466D8555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F22310E0-8CE4-C85B-0452-30FE7EAD0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:notes">
            <a:extLst>
              <a:ext uri="{FF2B5EF4-FFF2-40B4-BE49-F238E27FC236}">
                <a16:creationId xmlns:a16="http://schemas.microsoft.com/office/drawing/2014/main" id="{E0C0C853-7E1E-B01A-956E-FEE9A007E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Análise por Perfil demográfico: idade, sexo, escolaridade, cor/raça.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Situação domiciliar (urbano/rural, tipo de domicílio).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2F2F2"/>
                </a:solidFill>
              </a:rPr>
              <a:t>Condições socioeconômicas	 (trabalho semana passada,,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:notes">
            <a:extLst>
              <a:ext uri="{FF2B5EF4-FFF2-40B4-BE49-F238E27FC236}">
                <a16:creationId xmlns:a16="http://schemas.microsoft.com/office/drawing/2014/main" id="{E4B2F915-982A-F5A3-B643-138784D10B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8980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B53C4F-4659-CF01-3CA9-2688E205FE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429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Corporativo | Interno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hyperlink" Target="https://lookerstudio.google.com/s/np7RMXmCvl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hyperlink" Target="https://lookerstudio.google.com/u/0/reporting/1f939a80-6bd0-4e7d-8c4e-937009ea8195/page/p_bzxocrrmwd" TargetMode="External"/><Relationship Id="rId5" Type="http://schemas.openxmlformats.org/officeDocument/2006/relationships/image" Target="../media/image6.png"/><Relationship Id="rId15" Type="http://schemas.openxmlformats.org/officeDocument/2006/relationships/image" Target="../media/image11.jpeg"/><Relationship Id="rId10" Type="http://schemas.openxmlformats.org/officeDocument/2006/relationships/hyperlink" Target="https://colab.research.google.com/drive/1H8QCJ72rlSJa6fb7LY0tRrR2Hy3wOCYY?usp=sharing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colab.research.google.com/drive/14DEa0vYsZQwuN8XtUtkmGTCdUMDTPdkE?usp=sharing" TargetMode="External"/><Relationship Id="rId14" Type="http://schemas.openxmlformats.org/officeDocument/2006/relationships/hyperlink" Target="https://console.cloud.google.com/bigquery?ws=!1m5!1m4!4m3!1stechchallengefase3-481819!2scovid19!3stb_covid_ger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lookerstudio.google.com/s/np7RMXmCvl0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essoa andando na calçada com celular ao ouvido&#10;&#10;O conteúdo gerado por IA pode estar incorreto.">
            <a:extLst>
              <a:ext uri="{FF2B5EF4-FFF2-40B4-BE49-F238E27FC236}">
                <a16:creationId xmlns:a16="http://schemas.microsoft.com/office/drawing/2014/main" id="{66CFE68A-095C-C927-531C-946A380C8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8" name="Google Shape;88;p1"/>
          <p:cNvSpPr txBox="1"/>
          <p:nvPr/>
        </p:nvSpPr>
        <p:spPr>
          <a:xfrm>
            <a:off x="4709727" y="6062404"/>
            <a:ext cx="9144000" cy="73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Play"/>
              <a:buNone/>
            </a:pPr>
            <a:r>
              <a:rPr lang="pt-BR" sz="4400" b="1" i="0" u="none" strike="noStrike" cap="none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TECH CHALLENGE - 3</a:t>
            </a:r>
            <a:endParaRPr b="1"/>
          </a:p>
        </p:txBody>
      </p:sp>
      <p:sp>
        <p:nvSpPr>
          <p:cNvPr id="90" name="Google Shape;90;p1"/>
          <p:cNvSpPr/>
          <p:nvPr/>
        </p:nvSpPr>
        <p:spPr>
          <a:xfrm rot="15687200">
            <a:off x="9413194" y="-758364"/>
            <a:ext cx="5887677" cy="5689093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180A4F-879D-D75C-BFEF-A7625E63F389}"/>
              </a:ext>
            </a:extLst>
          </p:cNvPr>
          <p:cNvSpPr txBox="1"/>
          <p:nvPr/>
        </p:nvSpPr>
        <p:spPr>
          <a:xfrm>
            <a:off x="76200" y="0"/>
            <a:ext cx="9545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>
                <a:solidFill>
                  <a:schemeClr val="lt1"/>
                </a:solidFill>
                <a:latin typeface="Play"/>
                <a:sym typeface="Play"/>
              </a:rPr>
              <a:t>Pós Tech – Data </a:t>
            </a:r>
            <a:r>
              <a:rPr lang="pt-BR" sz="4400" b="1" err="1">
                <a:solidFill>
                  <a:schemeClr val="lt1"/>
                </a:solidFill>
                <a:latin typeface="Play"/>
                <a:sym typeface="Play"/>
              </a:rPr>
              <a:t>Analytics</a:t>
            </a:r>
            <a:r>
              <a:rPr lang="pt-BR" sz="4400" b="1">
                <a:solidFill>
                  <a:schemeClr val="lt1"/>
                </a:solidFill>
                <a:latin typeface="Play"/>
                <a:sym typeface="Play"/>
              </a:rPr>
              <a:t> 10DTAT </a:t>
            </a:r>
            <a:endParaRPr lang="pt-BR" sz="4400"/>
          </a:p>
        </p:txBody>
      </p:sp>
      <p:sp>
        <p:nvSpPr>
          <p:cNvPr id="8" name="Google Shape;139;p3">
            <a:extLst>
              <a:ext uri="{FF2B5EF4-FFF2-40B4-BE49-F238E27FC236}">
                <a16:creationId xmlns:a16="http://schemas.microsoft.com/office/drawing/2014/main" id="{FCD97782-3E21-0DCF-F831-4697D45CD7D3}"/>
              </a:ext>
            </a:extLst>
          </p:cNvPr>
          <p:cNvSpPr/>
          <p:nvPr/>
        </p:nvSpPr>
        <p:spPr>
          <a:xfrm rot="-5912800">
            <a:off x="-1233345" y="3436804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C8F370BC-D62C-B0F8-9018-F83D0256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A3F609DF-A6CE-0BCD-78A7-B2837FD57CEF}"/>
              </a:ext>
            </a:extLst>
          </p:cNvPr>
          <p:cNvSpPr/>
          <p:nvPr/>
        </p:nvSpPr>
        <p:spPr>
          <a:xfrm rot="-5912800">
            <a:off x="-836777" y="333820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>
            <a:extLst>
              <a:ext uri="{FF2B5EF4-FFF2-40B4-BE49-F238E27FC236}">
                <a16:creationId xmlns:a16="http://schemas.microsoft.com/office/drawing/2014/main" id="{2F7F08F9-E9D5-A85E-7366-BA8E8986CB86}"/>
              </a:ext>
            </a:extLst>
          </p:cNvPr>
          <p:cNvSpPr/>
          <p:nvPr/>
        </p:nvSpPr>
        <p:spPr>
          <a:xfrm rot="-5912800">
            <a:off x="8805870" y="-491232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>
            <a:extLst>
              <a:ext uri="{FF2B5EF4-FFF2-40B4-BE49-F238E27FC236}">
                <a16:creationId xmlns:a16="http://schemas.microsoft.com/office/drawing/2014/main" id="{B44854BA-2AE3-414F-BB52-C511B0D29089}"/>
              </a:ext>
            </a:extLst>
          </p:cNvPr>
          <p:cNvSpPr txBox="1"/>
          <p:nvPr/>
        </p:nvSpPr>
        <p:spPr>
          <a:xfrm>
            <a:off x="286871" y="458221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5400"/>
              <a:buFont typeface="Play"/>
              <a:buNone/>
            </a:pPr>
            <a:r>
              <a:rPr lang="pt-BR" sz="5400" b="1" i="0" u="none" strike="noStrike" cap="none" dirty="0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Sumário</a:t>
            </a:r>
            <a:endParaRPr dirty="0"/>
          </a:p>
        </p:txBody>
      </p:sp>
      <p:grpSp>
        <p:nvGrpSpPr>
          <p:cNvPr id="142" name="Google Shape;142;p3">
            <a:extLst>
              <a:ext uri="{FF2B5EF4-FFF2-40B4-BE49-F238E27FC236}">
                <a16:creationId xmlns:a16="http://schemas.microsoft.com/office/drawing/2014/main" id="{1C161737-E923-4595-4EC6-0C0332F6C195}"/>
              </a:ext>
            </a:extLst>
          </p:cNvPr>
          <p:cNvGrpSpPr/>
          <p:nvPr/>
        </p:nvGrpSpPr>
        <p:grpSpPr>
          <a:xfrm>
            <a:off x="1367721" y="1775285"/>
            <a:ext cx="10281634" cy="2968913"/>
            <a:chOff x="2040088" y="1700850"/>
            <a:chExt cx="9229807" cy="2615840"/>
          </a:xfrm>
        </p:grpSpPr>
        <p:sp>
          <p:nvSpPr>
            <p:cNvPr id="143" name="Google Shape;143;p3">
              <a:extLst>
                <a:ext uri="{FF2B5EF4-FFF2-40B4-BE49-F238E27FC236}">
                  <a16:creationId xmlns:a16="http://schemas.microsoft.com/office/drawing/2014/main" id="{83D9C3CA-2252-466E-3282-DBAAE45F7078}"/>
                </a:ext>
              </a:extLst>
            </p:cNvPr>
            <p:cNvSpPr txBox="1"/>
            <p:nvPr/>
          </p:nvSpPr>
          <p:spPr>
            <a:xfrm>
              <a:off x="2040088" y="1797829"/>
              <a:ext cx="4784346" cy="87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Clr>
                  <a:srgbClr val="FFFFFF"/>
                </a:buClr>
                <a:buSzPts val="2000"/>
              </a:pPr>
              <a:r>
                <a:rPr lang="pt-BR" sz="2000" b="1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Introdução</a:t>
              </a:r>
              <a:br>
                <a:rPr lang="pt-BR" sz="2000" b="1" dirty="0">
                  <a:solidFill>
                    <a:srgbClr val="FFFFFF"/>
                  </a:solidFill>
                </a:rPr>
              </a:br>
              <a:r>
                <a:rPr lang="pt-BR" sz="1600" dirty="0">
                  <a:solidFill>
                    <a:srgbClr val="FFFFFF"/>
                  </a:solidFill>
                </a:rPr>
                <a:t>Contextualização do problema e objetivos do estudo.</a:t>
              </a:r>
              <a:endParaRPr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>
              <a:extLst>
                <a:ext uri="{FF2B5EF4-FFF2-40B4-BE49-F238E27FC236}">
                  <a16:creationId xmlns:a16="http://schemas.microsoft.com/office/drawing/2014/main" id="{748E4937-0C04-E318-0ECD-12072108C112}"/>
                </a:ext>
              </a:extLst>
            </p:cNvPr>
            <p:cNvSpPr txBox="1"/>
            <p:nvPr/>
          </p:nvSpPr>
          <p:spPr>
            <a:xfrm>
              <a:off x="2040088" y="3388948"/>
              <a:ext cx="3766460" cy="5694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pt-BR" sz="2000" b="1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Análise de dados</a:t>
              </a:r>
              <a:endParaRPr lang="pt-BR" sz="2000" b="1" dirty="0">
                <a:solidFill>
                  <a:srgbClr val="FFFFFF"/>
                </a:solidFill>
              </a:endParaRPr>
            </a:p>
            <a:p>
              <a:pPr lvl="0">
                <a:buClr>
                  <a:srgbClr val="FFFFFF"/>
                </a:buClr>
                <a:buSzPts val="2000"/>
              </a:pPr>
              <a:r>
                <a:rPr lang="pt-BR" sz="1600" dirty="0">
                  <a:solidFill>
                    <a:srgbClr val="FFFFFF"/>
                  </a:solidFill>
                </a:rPr>
                <a:t>Principais quantitativos e qualitativos.</a:t>
              </a:r>
              <a:endParaRPr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">
              <a:extLst>
                <a:ext uri="{FF2B5EF4-FFF2-40B4-BE49-F238E27FC236}">
                  <a16:creationId xmlns:a16="http://schemas.microsoft.com/office/drawing/2014/main" id="{40B72F2A-B0FE-E74F-7C81-D685548FC548}"/>
                </a:ext>
              </a:extLst>
            </p:cNvPr>
            <p:cNvSpPr txBox="1"/>
            <p:nvPr/>
          </p:nvSpPr>
          <p:spPr>
            <a:xfrm>
              <a:off x="2040088" y="2615827"/>
              <a:ext cx="4784346" cy="6350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Clr>
                  <a:srgbClr val="FFFFFF"/>
                </a:buClr>
                <a:buSzPts val="2000"/>
              </a:pPr>
              <a:r>
                <a:rPr lang="pt-BR" sz="2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pt-BR" sz="2000" b="1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Metodologia</a:t>
              </a:r>
              <a:br>
                <a:rPr lang="pt-BR" sz="2000" b="1" dirty="0">
                  <a:solidFill>
                    <a:srgbClr val="FFFFFF"/>
                  </a:solidFill>
                </a:rPr>
              </a:br>
              <a:r>
                <a:rPr lang="pt-BR" sz="1600" dirty="0">
                  <a:solidFill>
                    <a:srgbClr val="FFFFFF"/>
                  </a:solidFill>
                </a:rPr>
                <a:t>Estratégia de coleta e análise dos dados.</a:t>
              </a:r>
              <a:endParaRPr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">
              <a:extLst>
                <a:ext uri="{FF2B5EF4-FFF2-40B4-BE49-F238E27FC236}">
                  <a16:creationId xmlns:a16="http://schemas.microsoft.com/office/drawing/2014/main" id="{CC6856BC-11AF-7452-61B4-429DCA55BC45}"/>
                </a:ext>
              </a:extLst>
            </p:cNvPr>
            <p:cNvSpPr txBox="1"/>
            <p:nvPr/>
          </p:nvSpPr>
          <p:spPr>
            <a:xfrm>
              <a:off x="6737345" y="1700850"/>
              <a:ext cx="4403980" cy="590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pt-BR" sz="2000" b="1" dirty="0">
                  <a:solidFill>
                    <a:srgbClr val="FFFFFF"/>
                  </a:solidFill>
                </a:rPr>
                <a:t>4</a:t>
              </a:r>
              <a:r>
                <a:rPr lang="pt-BR" sz="2000" b="1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lang="pt-BR" sz="2000" b="1" dirty="0">
                  <a:solidFill>
                    <a:srgbClr val="FFFFFF"/>
                  </a:solidFill>
                </a:rPr>
                <a:t>Insights</a:t>
              </a:r>
              <a:endParaRPr lang="pt-BR" sz="1800" b="1" dirty="0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pt-BR" sz="1600" dirty="0">
                  <a:solidFill>
                    <a:srgbClr val="FFFFFF"/>
                  </a:solidFill>
                </a:rPr>
                <a:t>Interpretação dos resultados e implicações.</a:t>
              </a:r>
              <a:endParaRPr dirty="0"/>
            </a:p>
          </p:txBody>
        </p:sp>
        <p:sp>
          <p:nvSpPr>
            <p:cNvPr id="147" name="Google Shape;147;p3">
              <a:extLst>
                <a:ext uri="{FF2B5EF4-FFF2-40B4-BE49-F238E27FC236}">
                  <a16:creationId xmlns:a16="http://schemas.microsoft.com/office/drawing/2014/main" id="{0313A770-BE95-9D7C-8C4B-E5063657DFDA}"/>
                </a:ext>
              </a:extLst>
            </p:cNvPr>
            <p:cNvSpPr txBox="1"/>
            <p:nvPr/>
          </p:nvSpPr>
          <p:spPr>
            <a:xfrm>
              <a:off x="6737345" y="3747259"/>
              <a:ext cx="4277433" cy="5694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Clr>
                  <a:srgbClr val="FFFFFF"/>
                </a:buClr>
                <a:buSzPts val="2000"/>
              </a:pPr>
              <a:r>
                <a:rPr lang="pt-BR" sz="2000" b="1" dirty="0">
                  <a:solidFill>
                    <a:srgbClr val="FFFFFF"/>
                  </a:solidFill>
                </a:rPr>
                <a:t>6</a:t>
              </a:r>
              <a:r>
                <a:rPr lang="pt-BR" sz="2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Conclusão</a:t>
              </a:r>
              <a:br>
                <a:rPr lang="pt-BR" sz="2000" b="1" dirty="0">
                  <a:solidFill>
                    <a:srgbClr val="FFFFFF"/>
                  </a:solidFill>
                </a:rPr>
              </a:br>
              <a:r>
                <a:rPr lang="pt-BR" sz="1600" dirty="0">
                  <a:solidFill>
                    <a:srgbClr val="FFFFFF"/>
                  </a:solidFill>
                </a:rPr>
                <a:t>Síntese dos aprendizados e próximos passos.</a:t>
              </a:r>
              <a:endParaRPr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>
              <a:extLst>
                <a:ext uri="{FF2B5EF4-FFF2-40B4-BE49-F238E27FC236}">
                  <a16:creationId xmlns:a16="http://schemas.microsoft.com/office/drawing/2014/main" id="{483EBFDF-A8C4-CF21-AB83-8AEBFFE040BD}"/>
                </a:ext>
              </a:extLst>
            </p:cNvPr>
            <p:cNvSpPr txBox="1"/>
            <p:nvPr/>
          </p:nvSpPr>
          <p:spPr>
            <a:xfrm>
              <a:off x="6737345" y="2588344"/>
              <a:ext cx="4532550" cy="872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pt-BR" sz="2000" b="1" dirty="0">
                  <a:solidFill>
                    <a:srgbClr val="FFFFFF"/>
                  </a:solidFill>
                </a:rPr>
                <a:t>5</a:t>
              </a:r>
              <a:r>
                <a:rPr lang="pt-BR" sz="2000" b="1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Recomendações para o Hospital</a:t>
              </a:r>
              <a:r>
                <a:rPr lang="pt-BR" sz="1800" dirty="0">
                  <a:solidFill>
                    <a:schemeClr val="dk1"/>
                  </a:solidFill>
                </a:rPr>
                <a:t> </a:t>
              </a:r>
              <a:r>
                <a:rPr lang="pt-BR" sz="1800" b="0" i="0" u="none" strike="noStrik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Ações para o início, meio, final e pós novo surto de COVID-19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77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 rot="-5912800">
            <a:off x="-867387" y="3571177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 rot="-5912800">
            <a:off x="9098328" y="-672321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520736" y="1409207"/>
            <a:ext cx="3726325" cy="55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pt-BR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876706" y="2255255"/>
            <a:ext cx="4493454" cy="189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pt-BR" dirty="0">
                <a:solidFill>
                  <a:schemeClr val="bg1"/>
                </a:solidFill>
                <a:latin typeface="+mn-lt"/>
              </a:rPr>
              <a:t>A pandemia de COVID-19 exigiu uma preparação estratégica baseada em dados para enfrentar novos surtos. Este estudo consolida dados populacionais de setembro a novembro de 2020, visando transformar informações em indicadores acionáveis para o hospital.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Devemos analisar os dados coletados da população em 2020 a respeito da pandemia.</a:t>
            </a:r>
            <a:endParaRPr dirty="0"/>
          </a:p>
        </p:txBody>
      </p:sp>
      <p:sp>
        <p:nvSpPr>
          <p:cNvPr id="158" name="Google Shape;158;p4"/>
          <p:cNvSpPr txBox="1"/>
          <p:nvPr/>
        </p:nvSpPr>
        <p:spPr>
          <a:xfrm>
            <a:off x="7283855" y="1358628"/>
            <a:ext cx="3205567" cy="55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pt-BR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 do estudo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6457985" y="2087200"/>
            <a:ext cx="4857309" cy="450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Consolidar dados de 3 meses (setembro ,Outubro, novembro de 2020) do questionário da PNAD COVID19 e transformá-los em indicadores acionáveis para o hospital.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</a:pPr>
            <a:endParaRPr dirty="0">
              <a:latin typeface="+mn-lt"/>
            </a:endParaRPr>
          </a:p>
          <a:p>
            <a:pPr marL="285750" indent="-285750" algn="just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+mn-lt"/>
              </a:rPr>
              <a:t>Selecionar perguntas-chave do questionário PNAD COVID19 para identificar grupos de risco, definir planos de atendimento e monitorar indicadores críticos</a:t>
            </a: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600" b="0" i="0" u="none" strike="noStrike" cap="none" dirty="0">
                <a:solidFill>
                  <a:schemeClr val="bg1"/>
                </a:solidFill>
                <a:latin typeface="+mn-lt"/>
                <a:sym typeface="Arial"/>
              </a:rPr>
              <a:t>Entregar insights práticos:</a:t>
            </a:r>
            <a:endParaRPr sz="1600" dirty="0">
              <a:solidFill>
                <a:schemeClr val="bg1"/>
              </a:solidFill>
              <a:latin typeface="+mn-lt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600" b="0" i="0" u="none" strike="noStrike" cap="none" dirty="0">
                <a:solidFill>
                  <a:schemeClr val="lt1"/>
                </a:solidFill>
                <a:sym typeface="Arial"/>
              </a:rPr>
              <a:t>Identificar grupos de risco.</a:t>
            </a:r>
            <a:endParaRPr sz="1600" dirty="0"/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600" b="0" i="0" u="none" strike="noStrike" cap="none" dirty="0">
                <a:solidFill>
                  <a:schemeClr val="lt1"/>
                </a:solidFill>
                <a:sym typeface="Arial"/>
              </a:rPr>
              <a:t>Definir planos de atendimento e testagem.</a:t>
            </a:r>
            <a:endParaRPr sz="1600" dirty="0"/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600" b="0" i="0" u="none" strike="noStrike" cap="none" dirty="0">
                <a:solidFill>
                  <a:schemeClr val="lt1"/>
                </a:solidFill>
                <a:sym typeface="Arial"/>
              </a:rPr>
              <a:t>Monitorar indicadores críticos em futuros surtos.</a:t>
            </a:r>
            <a:endParaRPr sz="1600" dirty="0"/>
          </a:p>
        </p:txBody>
      </p:sp>
      <p:sp>
        <p:nvSpPr>
          <p:cNvPr id="160" name="Google Shape;160;p4"/>
          <p:cNvSpPr txBox="1"/>
          <p:nvPr/>
        </p:nvSpPr>
        <p:spPr>
          <a:xfrm>
            <a:off x="679005" y="99930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dirty="0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Introdução</a:t>
            </a:r>
            <a:endParaRPr dirty="0"/>
          </a:p>
        </p:txBody>
      </p:sp>
      <p:pic>
        <p:nvPicPr>
          <p:cNvPr id="161" name="Google Shape;161;p4" descr="Lupa com preenchimento sólid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7241" y="1450169"/>
            <a:ext cx="538362" cy="53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 descr="Na mosca com preenchimento sólid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0082" y="1374859"/>
            <a:ext cx="54864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4"/>
          <p:cNvCxnSpPr/>
          <p:nvPr/>
        </p:nvCxnSpPr>
        <p:spPr>
          <a:xfrm>
            <a:off x="4401188" y="1023260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Dot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>
          <a:extLst>
            <a:ext uri="{FF2B5EF4-FFF2-40B4-BE49-F238E27FC236}">
              <a16:creationId xmlns:a16="http://schemas.microsoft.com/office/drawing/2014/main" id="{EA1E0E96-4711-1471-6EC2-9F406082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E665D40F-C5CF-D5CF-A9C7-923CDB079F42}"/>
              </a:ext>
            </a:extLst>
          </p:cNvPr>
          <p:cNvSpPr/>
          <p:nvPr/>
        </p:nvSpPr>
        <p:spPr>
          <a:xfrm rot="-5912800">
            <a:off x="-1233147" y="41306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EB1CCC93-2D58-A07A-D6BF-F779977A7E5E}"/>
              </a:ext>
            </a:extLst>
          </p:cNvPr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BB4341A-D376-76CC-566A-5A4D3CA7A057}"/>
              </a:ext>
            </a:extLst>
          </p:cNvPr>
          <p:cNvSpPr txBox="1"/>
          <p:nvPr/>
        </p:nvSpPr>
        <p:spPr>
          <a:xfrm>
            <a:off x="1820230" y="1755766"/>
            <a:ext cx="9101742" cy="457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Base de dados: PNAD-COVID (IBGE), abrangendo 1,15 milhão de entrevistas.</a:t>
            </a: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Período da coleta</a:t>
            </a:r>
            <a:r>
              <a:rPr lang="pt-BR" sz="1800">
                <a:solidFill>
                  <a:schemeClr val="bg1"/>
                </a:solidFill>
                <a:latin typeface="+mn-lt"/>
              </a:rPr>
              <a:t>: </a:t>
            </a:r>
            <a:r>
              <a:rPr lang="pt-BR" sz="1800">
                <a:solidFill>
                  <a:schemeClr val="lt1"/>
                </a:solidFill>
              </a:rPr>
              <a:t>Setembro </a:t>
            </a:r>
            <a:r>
              <a:rPr lang="pt-BR" sz="1800" dirty="0">
                <a:solidFill>
                  <a:schemeClr val="lt1"/>
                </a:solidFill>
              </a:rPr>
              <a:t>,Outubro, novembro de 2020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. </a:t>
            </a: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Abordagem Analítica: Limpeza e padronização dos dados.  * Segmentação por faixa etária, gênero e região.  * Identificação de sintomas e casos positivos.</a:t>
            </a: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Ferramentas: Google Colab, Google Cloud, </a:t>
            </a:r>
            <a:r>
              <a:rPr lang="pt-BR" sz="1800" dirty="0" err="1">
                <a:solidFill>
                  <a:schemeClr val="bg1"/>
                </a:solidFill>
                <a:latin typeface="+mn-lt"/>
              </a:rPr>
              <a:t>BigQuery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pt-BR" sz="1800" dirty="0" err="1">
                <a:solidFill>
                  <a:schemeClr val="bg1"/>
                </a:solidFill>
                <a:latin typeface="+mn-lt"/>
              </a:rPr>
              <a:t>Looker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 Studio </a:t>
            </a: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342900" indent="-342900" algn="just" fontAlgn="t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Processo: Consolidação e tratamento dos dados, análise e visualização em dashboards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</a:pPr>
            <a:endParaRPr dirty="0">
              <a:latin typeface="+mn-lt"/>
            </a:endParaRPr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0880E5E-C495-D722-10FE-17898E725237}"/>
              </a:ext>
            </a:extLst>
          </p:cNvPr>
          <p:cNvSpPr txBox="1"/>
          <p:nvPr/>
        </p:nvSpPr>
        <p:spPr>
          <a:xfrm>
            <a:off x="838200" y="212268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dirty="0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Metodologia </a:t>
            </a:r>
            <a:endParaRPr dirty="0"/>
          </a:p>
        </p:txBody>
      </p:sp>
      <p:pic>
        <p:nvPicPr>
          <p:cNvPr id="162" name="Google Shape;162;p4" descr="Na mosca com preenchimento sólido">
            <a:extLst>
              <a:ext uri="{FF2B5EF4-FFF2-40B4-BE49-F238E27FC236}">
                <a16:creationId xmlns:a16="http://schemas.microsoft.com/office/drawing/2014/main" id="{92E71EA2-2614-76FB-706C-6C459A1FC0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3518" y="474620"/>
            <a:ext cx="54864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4">
            <a:extLst>
              <a:ext uri="{FF2B5EF4-FFF2-40B4-BE49-F238E27FC236}">
                <a16:creationId xmlns:a16="http://schemas.microsoft.com/office/drawing/2014/main" id="{9377EDA3-8090-D258-FF0B-D40E511531E2}"/>
              </a:ext>
            </a:extLst>
          </p:cNvPr>
          <p:cNvCxnSpPr/>
          <p:nvPr/>
        </p:nvCxnSpPr>
        <p:spPr>
          <a:xfrm>
            <a:off x="4401188" y="1023260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Dot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460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838200" y="13648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Fluxo de dados</a:t>
            </a:r>
            <a:endParaRPr sz="1100" dirty="0"/>
          </a:p>
        </p:txBody>
      </p:sp>
      <p:sp>
        <p:nvSpPr>
          <p:cNvPr id="175" name="Google Shape;175;p5"/>
          <p:cNvSpPr/>
          <p:nvPr/>
        </p:nvSpPr>
        <p:spPr>
          <a:xfrm rot="-5912800">
            <a:off x="-2052497" y="4455153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 rot="-5912800">
            <a:off x="10841425" y="-1266436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85381" y="1908121"/>
            <a:ext cx="1294935" cy="1016588"/>
          </a:xfrm>
          <a:prstGeom prst="flowChartMagneticDisk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IBGE</a:t>
            </a:r>
            <a:endParaRPr/>
          </a:p>
        </p:txBody>
      </p:sp>
      <p:cxnSp>
        <p:nvCxnSpPr>
          <p:cNvPr id="178" name="Google Shape;178;p5"/>
          <p:cNvCxnSpPr>
            <a:cxnSpLocks/>
            <a:stCxn id="177" idx="4"/>
          </p:cNvCxnSpPr>
          <p:nvPr/>
        </p:nvCxnSpPr>
        <p:spPr>
          <a:xfrm>
            <a:off x="1880316" y="2416415"/>
            <a:ext cx="129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0" name="Google Shape;180;p5"/>
          <p:cNvSpPr/>
          <p:nvPr/>
        </p:nvSpPr>
        <p:spPr>
          <a:xfrm>
            <a:off x="3155676" y="2111001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Consolidação e Tratamento de Dados(Colab)|(</a:t>
            </a:r>
            <a:r>
              <a:rPr lang="pt-BR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PySpark</a:t>
            </a: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cxnSp>
        <p:nvCxnSpPr>
          <p:cNvPr id="182" name="Google Shape;182;p5"/>
          <p:cNvCxnSpPr>
            <a:cxnSpLocks/>
            <a:stCxn id="180" idx="2"/>
          </p:cNvCxnSpPr>
          <p:nvPr/>
        </p:nvCxnSpPr>
        <p:spPr>
          <a:xfrm>
            <a:off x="4178652" y="2792800"/>
            <a:ext cx="0" cy="1740214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3" name="Google Shape;183;p5"/>
          <p:cNvSpPr/>
          <p:nvPr/>
        </p:nvSpPr>
        <p:spPr>
          <a:xfrm>
            <a:off x="3420586" y="4563451"/>
            <a:ext cx="1552276" cy="1218612"/>
          </a:xfrm>
          <a:prstGeom prst="flowChartMagneticDisk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Armazenamento Google Cloud </a:t>
            </a:r>
            <a:endParaRPr dirty="0"/>
          </a:p>
        </p:txBody>
      </p:sp>
      <p:cxnSp>
        <p:nvCxnSpPr>
          <p:cNvPr id="187" name="Google Shape;187;p5"/>
          <p:cNvCxnSpPr>
            <a:cxnSpLocks/>
            <a:stCxn id="183" idx="4"/>
            <a:endCxn id="186" idx="1"/>
          </p:cNvCxnSpPr>
          <p:nvPr/>
        </p:nvCxnSpPr>
        <p:spPr>
          <a:xfrm flipV="1">
            <a:off x="4972862" y="2362175"/>
            <a:ext cx="1479851" cy="281058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186;p5"/>
          <p:cNvSpPr/>
          <p:nvPr/>
        </p:nvSpPr>
        <p:spPr>
          <a:xfrm>
            <a:off x="6452713" y="2021275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Analise de dados</a:t>
            </a:r>
            <a:endParaRPr dirty="0"/>
          </a:p>
        </p:txBody>
      </p:sp>
      <p:cxnSp>
        <p:nvCxnSpPr>
          <p:cNvPr id="194" name="Google Shape;194;p5"/>
          <p:cNvCxnSpPr>
            <a:cxnSpLocks/>
            <a:stCxn id="186" idx="2"/>
            <a:endCxn id="195" idx="0"/>
          </p:cNvCxnSpPr>
          <p:nvPr/>
        </p:nvCxnSpPr>
        <p:spPr>
          <a:xfrm>
            <a:off x="7475689" y="2703074"/>
            <a:ext cx="21964" cy="182994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5" name="Google Shape;195;p5"/>
          <p:cNvSpPr/>
          <p:nvPr/>
        </p:nvSpPr>
        <p:spPr>
          <a:xfrm>
            <a:off x="6474677" y="4533014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 e Dashboards</a:t>
            </a:r>
            <a:endParaRPr dirty="0"/>
          </a:p>
        </p:txBody>
      </p:sp>
      <p:sp>
        <p:nvSpPr>
          <p:cNvPr id="196" name="Google Shape;196;p5"/>
          <p:cNvSpPr/>
          <p:nvPr/>
        </p:nvSpPr>
        <p:spPr>
          <a:xfrm>
            <a:off x="9573020" y="1998874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Collab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5"/>
          <p:cNvCxnSpPr>
            <a:stCxn id="195" idx="3"/>
            <a:endCxn id="196" idx="1"/>
          </p:cNvCxnSpPr>
          <p:nvPr/>
        </p:nvCxnSpPr>
        <p:spPr>
          <a:xfrm rot="10800000" flipH="1">
            <a:off x="8520629" y="2339814"/>
            <a:ext cx="1052400" cy="2534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8" name="Google Shape;198;p5"/>
          <p:cNvCxnSpPr>
            <a:stCxn id="196" idx="2"/>
          </p:cNvCxnSpPr>
          <p:nvPr/>
        </p:nvCxnSpPr>
        <p:spPr>
          <a:xfrm flipH="1">
            <a:off x="10592696" y="2680673"/>
            <a:ext cx="3300" cy="526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9" name="Google Shape;199;p5"/>
          <p:cNvSpPr/>
          <p:nvPr/>
        </p:nvSpPr>
        <p:spPr>
          <a:xfrm>
            <a:off x="9569363" y="3241707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Looker Studio</a:t>
            </a:r>
            <a:endParaRPr/>
          </a:p>
        </p:txBody>
      </p:sp>
      <p:grpSp>
        <p:nvGrpSpPr>
          <p:cNvPr id="200" name="Google Shape;200;p5"/>
          <p:cNvGrpSpPr/>
          <p:nvPr/>
        </p:nvGrpSpPr>
        <p:grpSpPr>
          <a:xfrm>
            <a:off x="7328231" y="1651668"/>
            <a:ext cx="1266836" cy="703797"/>
            <a:chOff x="7564650" y="3549493"/>
            <a:chExt cx="1266836" cy="703797"/>
          </a:xfrm>
        </p:grpSpPr>
        <p:sp>
          <p:nvSpPr>
            <p:cNvPr id="201" name="Google Shape;201;p5"/>
            <p:cNvSpPr/>
            <p:nvPr/>
          </p:nvSpPr>
          <p:spPr>
            <a:xfrm>
              <a:off x="7974040" y="3675445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p5" descr="BigQuery Google Cloud Platform Cloud computing Database, google, blue, logo  png | PNGEg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64650" y="3549493"/>
              <a:ext cx="1266836" cy="7037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5"/>
          <p:cNvGrpSpPr/>
          <p:nvPr/>
        </p:nvGrpSpPr>
        <p:grpSpPr>
          <a:xfrm>
            <a:off x="-1" y="659668"/>
            <a:ext cx="12005117" cy="636870"/>
            <a:chOff x="-244885" y="659668"/>
            <a:chExt cx="12250002" cy="636870"/>
          </a:xfrm>
        </p:grpSpPr>
        <p:sp>
          <p:nvSpPr>
            <p:cNvPr id="204" name="Google Shape;204;p5"/>
            <p:cNvSpPr/>
            <p:nvPr/>
          </p:nvSpPr>
          <p:spPr>
            <a:xfrm>
              <a:off x="2415397" y="664618"/>
              <a:ext cx="3944096" cy="631919"/>
            </a:xfrm>
            <a:prstGeom prst="chevron">
              <a:avLst>
                <a:gd name="adj" fmla="val 50000"/>
              </a:avLst>
            </a:prstGeom>
            <a:solidFill>
              <a:srgbClr val="ED145B"/>
            </a:solidFill>
            <a:ln w="19050" cap="flat" cmpd="sng">
              <a:solidFill>
                <a:srgbClr val="D0D0D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pt-BR" sz="18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Tratamento e armazenamento</a:t>
              </a:r>
              <a:endParaRPr dirty="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-244885" y="673857"/>
              <a:ext cx="2955468" cy="622681"/>
            </a:xfrm>
            <a:prstGeom prst="chevron">
              <a:avLst>
                <a:gd name="adj" fmla="val 50000"/>
              </a:avLst>
            </a:prstGeom>
            <a:solidFill>
              <a:srgbClr val="ED145B"/>
            </a:solidFill>
            <a:ln w="19050" cap="flat" cmpd="sng">
              <a:solidFill>
                <a:srgbClr val="D0D0D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pt-BR" sz="18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Base inicial (Fontes Externa)</a:t>
              </a:r>
              <a:endParaRPr dirty="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6083124" y="659668"/>
              <a:ext cx="3398293" cy="636869"/>
            </a:xfrm>
            <a:prstGeom prst="chevron">
              <a:avLst>
                <a:gd name="adj" fmla="val 50000"/>
              </a:avLst>
            </a:prstGeom>
            <a:solidFill>
              <a:srgbClr val="ED145B"/>
            </a:solidFill>
            <a:ln w="19050" cap="flat" cmpd="sng">
              <a:solidFill>
                <a:srgbClr val="D0D0D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pt-BR" sz="1800" b="1" dirty="0">
                  <a:solidFill>
                    <a:srgbClr val="FFFFFF"/>
                  </a:solidFill>
                </a:rPr>
                <a:t>Análise</a:t>
              </a:r>
              <a:r>
                <a:rPr lang="pt-BR" sz="18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dados </a:t>
              </a:r>
              <a:endParaRPr dirty="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9225523" y="673857"/>
              <a:ext cx="2779594" cy="622680"/>
            </a:xfrm>
            <a:prstGeom prst="chevron">
              <a:avLst>
                <a:gd name="adj" fmla="val 50000"/>
              </a:avLst>
            </a:prstGeom>
            <a:solidFill>
              <a:srgbClr val="ED145B"/>
            </a:solidFill>
            <a:ln w="19050" cap="flat" cmpd="sng">
              <a:solidFill>
                <a:srgbClr val="D0D0D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pt-BR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grpSp>
        <p:nvGrpSpPr>
          <p:cNvPr id="208" name="Google Shape;208;p5"/>
          <p:cNvGrpSpPr/>
          <p:nvPr/>
        </p:nvGrpSpPr>
        <p:grpSpPr>
          <a:xfrm>
            <a:off x="8237498" y="4224879"/>
            <a:ext cx="474760" cy="468755"/>
            <a:chOff x="8244946" y="4250601"/>
            <a:chExt cx="474760" cy="468755"/>
          </a:xfrm>
        </p:grpSpPr>
        <p:sp>
          <p:nvSpPr>
            <p:cNvPr id="209" name="Google Shape;209;p5"/>
            <p:cNvSpPr/>
            <p:nvPr/>
          </p:nvSpPr>
          <p:spPr>
            <a:xfrm>
              <a:off x="8244946" y="4267464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0" name="Google Shape;210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267814" y="4250601"/>
              <a:ext cx="451892" cy="45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5"/>
          <p:cNvSpPr/>
          <p:nvPr/>
        </p:nvSpPr>
        <p:spPr>
          <a:xfrm>
            <a:off x="9573020" y="4563451"/>
            <a:ext cx="2045952" cy="681799"/>
          </a:xfrm>
          <a:prstGeom prst="flowChartProcess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Point</a:t>
            </a:r>
            <a:endParaRPr/>
          </a:p>
        </p:txBody>
      </p:sp>
      <p:grpSp>
        <p:nvGrpSpPr>
          <p:cNvPr id="221" name="Google Shape;221;p5"/>
          <p:cNvGrpSpPr/>
          <p:nvPr/>
        </p:nvGrpSpPr>
        <p:grpSpPr>
          <a:xfrm>
            <a:off x="11191447" y="4278129"/>
            <a:ext cx="769847" cy="513231"/>
            <a:chOff x="10483147" y="5526515"/>
            <a:chExt cx="769847" cy="513231"/>
          </a:xfrm>
        </p:grpSpPr>
        <p:sp>
          <p:nvSpPr>
            <p:cNvPr id="222" name="Google Shape;222;p5"/>
            <p:cNvSpPr/>
            <p:nvPr/>
          </p:nvSpPr>
          <p:spPr>
            <a:xfrm>
              <a:off x="10644042" y="5557184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3" name="Google Shape;223;p5" descr="Download Microsoft PowerPoint Logo in SVG Vector or PNG File Format -  Logo.win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483147" y="5526515"/>
              <a:ext cx="769847" cy="51323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4" name="Google Shape;224;p5"/>
          <p:cNvCxnSpPr>
            <a:stCxn id="199" idx="2"/>
            <a:endCxn id="220" idx="0"/>
          </p:cNvCxnSpPr>
          <p:nvPr/>
        </p:nvCxnSpPr>
        <p:spPr>
          <a:xfrm>
            <a:off x="10592339" y="3923506"/>
            <a:ext cx="3600" cy="639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225" name="Google Shape;225;p5"/>
          <p:cNvGrpSpPr/>
          <p:nvPr/>
        </p:nvGrpSpPr>
        <p:grpSpPr>
          <a:xfrm>
            <a:off x="11338990" y="3015674"/>
            <a:ext cx="474760" cy="468755"/>
            <a:chOff x="8244946" y="4250601"/>
            <a:chExt cx="474760" cy="468755"/>
          </a:xfrm>
        </p:grpSpPr>
        <p:sp>
          <p:nvSpPr>
            <p:cNvPr id="226" name="Google Shape;226;p5"/>
            <p:cNvSpPr/>
            <p:nvPr/>
          </p:nvSpPr>
          <p:spPr>
            <a:xfrm>
              <a:off x="8244946" y="4267464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267814" y="4250601"/>
              <a:ext cx="451892" cy="45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5"/>
          <p:cNvGrpSpPr/>
          <p:nvPr/>
        </p:nvGrpSpPr>
        <p:grpSpPr>
          <a:xfrm>
            <a:off x="11278921" y="1678505"/>
            <a:ext cx="594899" cy="451892"/>
            <a:chOff x="7686894" y="4265012"/>
            <a:chExt cx="594899" cy="451892"/>
          </a:xfrm>
        </p:grpSpPr>
        <p:sp>
          <p:nvSpPr>
            <p:cNvPr id="229" name="Google Shape;229;p5"/>
            <p:cNvSpPr/>
            <p:nvPr/>
          </p:nvSpPr>
          <p:spPr>
            <a:xfrm>
              <a:off x="7755699" y="4265012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0" name="Google Shape;230;p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6894" y="4306162"/>
              <a:ext cx="594899" cy="3664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5"/>
          <p:cNvGrpSpPr/>
          <p:nvPr/>
        </p:nvGrpSpPr>
        <p:grpSpPr>
          <a:xfrm>
            <a:off x="406306" y="6121342"/>
            <a:ext cx="588599" cy="447105"/>
            <a:chOff x="7686894" y="4265012"/>
            <a:chExt cx="594899" cy="451892"/>
          </a:xfrm>
        </p:grpSpPr>
        <p:sp>
          <p:nvSpPr>
            <p:cNvPr id="232" name="Google Shape;232;p5"/>
            <p:cNvSpPr/>
            <p:nvPr/>
          </p:nvSpPr>
          <p:spPr>
            <a:xfrm>
              <a:off x="7755699" y="4265012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3" name="Google Shape;233;p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6894" y="4306162"/>
              <a:ext cx="594899" cy="3664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5">
            <a:hlinkClick r:id="rId9"/>
          </p:cNvPr>
          <p:cNvSpPr txBox="1"/>
          <p:nvPr/>
        </p:nvSpPr>
        <p:spPr>
          <a:xfrm>
            <a:off x="924650" y="6198931"/>
            <a:ext cx="377961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1200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Colab de </a:t>
            </a:r>
            <a:r>
              <a:rPr lang="pt-BR" sz="12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Consolidação e Tratamento de dados</a:t>
            </a:r>
            <a:endParaRPr sz="1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>
            <a:hlinkClick r:id="rId11"/>
          </p:cNvPr>
          <p:cNvSpPr txBox="1"/>
          <p:nvPr/>
        </p:nvSpPr>
        <p:spPr>
          <a:xfrm>
            <a:off x="9670961" y="6177054"/>
            <a:ext cx="16118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r>
              <a:rPr lang="pt-BR" sz="1200" b="1" u="sng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Link Looker Studio</a:t>
            </a: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5"/>
          <p:cNvGrpSpPr/>
          <p:nvPr/>
        </p:nvGrpSpPr>
        <p:grpSpPr>
          <a:xfrm>
            <a:off x="9186244" y="6072745"/>
            <a:ext cx="474760" cy="468755"/>
            <a:chOff x="8244946" y="4250601"/>
            <a:chExt cx="474760" cy="468755"/>
          </a:xfrm>
        </p:grpSpPr>
        <p:sp>
          <p:nvSpPr>
            <p:cNvPr id="243" name="Google Shape;243;p5"/>
            <p:cNvSpPr/>
            <p:nvPr/>
          </p:nvSpPr>
          <p:spPr>
            <a:xfrm>
              <a:off x="8244946" y="4267464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" name="Google Shape;244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267814" y="4250601"/>
              <a:ext cx="451892" cy="45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5">
            <a:hlinkClick r:id="rId12"/>
          </p:cNvPr>
          <p:cNvSpPr txBox="1"/>
          <p:nvPr/>
        </p:nvSpPr>
        <p:spPr>
          <a:xfrm>
            <a:off x="8966400" y="5982404"/>
            <a:ext cx="27505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217;p5"/>
          <p:cNvGrpSpPr/>
          <p:nvPr/>
        </p:nvGrpSpPr>
        <p:grpSpPr>
          <a:xfrm>
            <a:off x="4752869" y="1562602"/>
            <a:ext cx="986419" cy="872543"/>
            <a:chOff x="7686894" y="4265012"/>
            <a:chExt cx="594899" cy="451892"/>
          </a:xfrm>
        </p:grpSpPr>
        <p:sp>
          <p:nvSpPr>
            <p:cNvPr id="3" name="Google Shape;218;p5"/>
            <p:cNvSpPr/>
            <p:nvPr/>
          </p:nvSpPr>
          <p:spPr>
            <a:xfrm>
              <a:off x="7755699" y="4265012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219;p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6894" y="4306162"/>
              <a:ext cx="594899" cy="3664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oogle Shape;188;p5">
            <a:extLst>
              <a:ext uri="{FF2B5EF4-FFF2-40B4-BE49-F238E27FC236}">
                <a16:creationId xmlns:a16="http://schemas.microsoft.com/office/drawing/2014/main" id="{C1408425-72E8-3DF0-9FB5-CB4EB10EB0DB}"/>
              </a:ext>
            </a:extLst>
          </p:cNvPr>
          <p:cNvGrpSpPr/>
          <p:nvPr/>
        </p:nvGrpSpPr>
        <p:grpSpPr>
          <a:xfrm>
            <a:off x="2836777" y="4089495"/>
            <a:ext cx="764719" cy="847861"/>
            <a:chOff x="7974040" y="3675445"/>
            <a:chExt cx="448056" cy="451892"/>
          </a:xfrm>
        </p:grpSpPr>
        <p:sp>
          <p:nvSpPr>
            <p:cNvPr id="7" name="Google Shape;189;p5">
              <a:extLst>
                <a:ext uri="{FF2B5EF4-FFF2-40B4-BE49-F238E27FC236}">
                  <a16:creationId xmlns:a16="http://schemas.microsoft.com/office/drawing/2014/main" id="{B1C9A9F6-90EA-7E15-D7CC-3D21AA42C2D7}"/>
                </a:ext>
              </a:extLst>
            </p:cNvPr>
            <p:cNvSpPr/>
            <p:nvPr/>
          </p:nvSpPr>
          <p:spPr>
            <a:xfrm>
              <a:off x="7974040" y="3675445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" name="Google Shape;190;p5">
              <a:extLst>
                <a:ext uri="{FF2B5EF4-FFF2-40B4-BE49-F238E27FC236}">
                  <a16:creationId xmlns:a16="http://schemas.microsoft.com/office/drawing/2014/main" id="{A50655C4-B340-D5FD-3FE4-E03BEB71EFD8}"/>
                </a:ext>
              </a:extLst>
            </p:cNvPr>
            <p:cNvPicPr preferRelativeResize="0"/>
            <p:nvPr/>
          </p:nvPicPr>
          <p:blipFill>
            <a:blip r:embed="rId13">
              <a:alphaModFix/>
            </a:blip>
            <a:srcRect/>
            <a:stretch/>
          </p:blipFill>
          <p:spPr>
            <a:xfrm>
              <a:off x="8025193" y="3778923"/>
              <a:ext cx="345750" cy="244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4;p5">
            <a:hlinkClick r:id="rId9"/>
            <a:extLst>
              <a:ext uri="{FF2B5EF4-FFF2-40B4-BE49-F238E27FC236}">
                <a16:creationId xmlns:a16="http://schemas.microsoft.com/office/drawing/2014/main" id="{F22A5528-6BCB-1390-27E8-BE1517B3A3C8}"/>
              </a:ext>
            </a:extLst>
          </p:cNvPr>
          <p:cNvSpPr txBox="1"/>
          <p:nvPr/>
        </p:nvSpPr>
        <p:spPr>
          <a:xfrm>
            <a:off x="5263394" y="6191050"/>
            <a:ext cx="377961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1200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</a:t>
            </a:r>
            <a:r>
              <a:rPr lang="pt-BR" sz="1200" b="1" u="sng" dirty="0" err="1">
                <a:solidFill>
                  <a:schemeClr val="lt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BigQuery</a:t>
            </a:r>
            <a:r>
              <a:rPr lang="pt-BR" sz="1200" b="1" u="sng" dirty="0">
                <a:solidFill>
                  <a:schemeClr val="lt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pt-BR" sz="12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onsolidação e Tratamento de dados</a:t>
            </a:r>
            <a:endParaRPr sz="1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00;p5">
            <a:extLst>
              <a:ext uri="{FF2B5EF4-FFF2-40B4-BE49-F238E27FC236}">
                <a16:creationId xmlns:a16="http://schemas.microsoft.com/office/drawing/2014/main" id="{0C4EF3D3-4D37-B165-ED1E-4196831B8A63}"/>
              </a:ext>
            </a:extLst>
          </p:cNvPr>
          <p:cNvGrpSpPr/>
          <p:nvPr/>
        </p:nvGrpSpPr>
        <p:grpSpPr>
          <a:xfrm>
            <a:off x="4417021" y="6033301"/>
            <a:ext cx="1266836" cy="703797"/>
            <a:chOff x="7564650" y="3549493"/>
            <a:chExt cx="1266836" cy="703797"/>
          </a:xfrm>
        </p:grpSpPr>
        <p:sp>
          <p:nvSpPr>
            <p:cNvPr id="25" name="Google Shape;201;p5">
              <a:extLst>
                <a:ext uri="{FF2B5EF4-FFF2-40B4-BE49-F238E27FC236}">
                  <a16:creationId xmlns:a16="http://schemas.microsoft.com/office/drawing/2014/main" id="{50F2FC89-5968-B8FF-FFFA-9A9AEA195B2C}"/>
                </a:ext>
              </a:extLst>
            </p:cNvPr>
            <p:cNvSpPr/>
            <p:nvPr/>
          </p:nvSpPr>
          <p:spPr>
            <a:xfrm>
              <a:off x="7974040" y="3675445"/>
              <a:ext cx="448056" cy="45189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" name="Google Shape;202;p5" descr="BigQuery Google Cloud Platform Cloud computing Database, google, blue, logo  png | PNGEgg">
              <a:extLst>
                <a:ext uri="{FF2B5EF4-FFF2-40B4-BE49-F238E27FC236}">
                  <a16:creationId xmlns:a16="http://schemas.microsoft.com/office/drawing/2014/main" id="{F57B55CF-BEA2-DAD3-97CA-FB3C081818E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64650" y="3549493"/>
              <a:ext cx="1266836" cy="7037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218;p5">
            <a:extLst>
              <a:ext uri="{FF2B5EF4-FFF2-40B4-BE49-F238E27FC236}">
                <a16:creationId xmlns:a16="http://schemas.microsoft.com/office/drawing/2014/main" id="{D757ECD1-61C6-CB69-0148-7BCF08758CD7}"/>
              </a:ext>
            </a:extLst>
          </p:cNvPr>
          <p:cNvSpPr/>
          <p:nvPr/>
        </p:nvSpPr>
        <p:spPr>
          <a:xfrm>
            <a:off x="2508748" y="2691262"/>
            <a:ext cx="742934" cy="872543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Programação em Python e PySpark. Codificando aplicações Spark usando… | by  Patty Vader | Data Team Stone | Medium">
            <a:extLst>
              <a:ext uri="{FF2B5EF4-FFF2-40B4-BE49-F238E27FC236}">
                <a16:creationId xmlns:a16="http://schemas.microsoft.com/office/drawing/2014/main" id="{1CBEFD85-04F5-EAC6-9082-6B3F99E17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59" y="2863187"/>
            <a:ext cx="604852" cy="52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FDC9D144-8DBD-20CC-E330-43FF73A4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462C75F8-CC1A-5B13-4D38-F291E4151D21}"/>
              </a:ext>
            </a:extLst>
          </p:cNvPr>
          <p:cNvSpPr txBox="1"/>
          <p:nvPr/>
        </p:nvSpPr>
        <p:spPr>
          <a:xfrm>
            <a:off x="838200" y="227070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Arquitetura -Medalhão</a:t>
            </a:r>
            <a:endParaRPr sz="1100" dirty="0"/>
          </a:p>
        </p:txBody>
      </p:sp>
      <p:sp>
        <p:nvSpPr>
          <p:cNvPr id="175" name="Google Shape;175;p5">
            <a:extLst>
              <a:ext uri="{FF2B5EF4-FFF2-40B4-BE49-F238E27FC236}">
                <a16:creationId xmlns:a16="http://schemas.microsoft.com/office/drawing/2014/main" id="{BAA90BDE-487C-3863-1618-7172E34DF693}"/>
              </a:ext>
            </a:extLst>
          </p:cNvPr>
          <p:cNvSpPr/>
          <p:nvPr/>
        </p:nvSpPr>
        <p:spPr>
          <a:xfrm rot="-5912800">
            <a:off x="-971681" y="3199770"/>
            <a:ext cx="2902685" cy="5117321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>
            <a:extLst>
              <a:ext uri="{FF2B5EF4-FFF2-40B4-BE49-F238E27FC236}">
                <a16:creationId xmlns:a16="http://schemas.microsoft.com/office/drawing/2014/main" id="{16BD1202-E315-8E10-A718-B6751A5B3DAC}"/>
              </a:ext>
            </a:extLst>
          </p:cNvPr>
          <p:cNvSpPr/>
          <p:nvPr/>
        </p:nvSpPr>
        <p:spPr>
          <a:xfrm rot="-5912800">
            <a:off x="10001528" y="-176230"/>
            <a:ext cx="4737881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>
            <a:hlinkClick r:id="rId5"/>
            <a:extLst>
              <a:ext uri="{FF2B5EF4-FFF2-40B4-BE49-F238E27FC236}">
                <a16:creationId xmlns:a16="http://schemas.microsoft.com/office/drawing/2014/main" id="{142DE40E-199E-01D5-E31A-DD3DE401F6E9}"/>
              </a:ext>
            </a:extLst>
          </p:cNvPr>
          <p:cNvSpPr txBox="1"/>
          <p:nvPr/>
        </p:nvSpPr>
        <p:spPr>
          <a:xfrm>
            <a:off x="8966400" y="5982404"/>
            <a:ext cx="27505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Arial"/>
              <a:buNone/>
            </a:pPr>
            <a:endParaRPr sz="1200" b="1" u="sng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Imagem 10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14A9D413-6EFE-9CB2-E283-6CA7082CE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625" y="2095500"/>
            <a:ext cx="82867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9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/>
          <p:nvPr/>
        </p:nvSpPr>
        <p:spPr>
          <a:xfrm rot="-5912800">
            <a:off x="-1784689" y="43338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 rot="-5912800">
            <a:off x="10625914" y="-1025491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4;p5">
            <a:extLst>
              <a:ext uri="{FF2B5EF4-FFF2-40B4-BE49-F238E27FC236}">
                <a16:creationId xmlns:a16="http://schemas.microsoft.com/office/drawing/2014/main" id="{5C274D9E-493B-E7ED-CCF7-55FA1095CF6F}"/>
              </a:ext>
            </a:extLst>
          </p:cNvPr>
          <p:cNvSpPr txBox="1"/>
          <p:nvPr/>
        </p:nvSpPr>
        <p:spPr>
          <a:xfrm>
            <a:off x="838200" y="-141311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Seleção das perguntas</a:t>
            </a:r>
            <a:endParaRPr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CC848C9-CCC6-E3BD-16B4-62E707FB303B}"/>
              </a:ext>
            </a:extLst>
          </p:cNvPr>
          <p:cNvSpPr txBox="1"/>
          <p:nvPr/>
        </p:nvSpPr>
        <p:spPr>
          <a:xfrm>
            <a:off x="267807" y="491148"/>
            <a:ext cx="5409512" cy="638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Informações pessoais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u="sng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A002	Idade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A003	Sexo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A004	Cor ou raça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A005	Escolaridade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B007	Tem algum plano de saúde médico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V1022	Situação do domicílio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V1023	Tipo de área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 dos testes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u="sng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B009B	Qual o resultado? (Teste </a:t>
            </a:r>
            <a:r>
              <a:rPr lang="pt-BR" sz="1400" dirty="0" err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swab</a:t>
            </a: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B009D	Qual o resultado? (Teste sangue dedo)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B009F	Qual o resultado? (Teste exame de sangue)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/>
            <a:r>
              <a:rPr lang="pt-BR" sz="1400" u="sng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Sintomas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B0011	Na semana passada teve febre?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B0012	Na semana passada teve tosse?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B0013	Na semana passada teve dor de garganta?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B0014	Na semana passada teve dificuldade para respirar?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B0015	Na semana passada teve dor de cabeça?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B0016	Na semana passada teve dor no peito?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B0017	Na semana passada teve náusea?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B0019	Na semana passada teve fadiga?</a:t>
            </a:r>
          </a:p>
          <a:p>
            <a:pPr lvl="0"/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B00110	Na semana passada teve dor nos olhos?</a:t>
            </a:r>
          </a:p>
          <a:p>
            <a:pPr lvl="0">
              <a:lnSpc>
                <a:spcPct val="115000"/>
              </a:lnSpc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B00111	Na semana passada teve perda de cheiro ou sabor?</a:t>
            </a:r>
          </a:p>
          <a:p>
            <a:pPr lvl="0">
              <a:lnSpc>
                <a:spcPct val="115000"/>
              </a:lnSpc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B00112	Na semana passada teve dor muscular?</a:t>
            </a:r>
            <a:endParaRPr lang="pt-BR" sz="8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C13B280-2B0E-2A49-CB5B-15C68403FC40}"/>
              </a:ext>
            </a:extLst>
          </p:cNvPr>
          <p:cNvSpPr txBox="1"/>
          <p:nvPr/>
        </p:nvSpPr>
        <p:spPr>
          <a:xfrm>
            <a:off x="5000878" y="844604"/>
            <a:ext cx="6923314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Atendimento e Situação Médica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u="sng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B0042	Buscou atendimento em UPA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B0043	Buscou atendimento em hospital público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B0044	Buscou atendimento em hospital/clínica particular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B005      Foi hospitalizado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B006      Foi intubado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>
          <a:extLst>
            <a:ext uri="{FF2B5EF4-FFF2-40B4-BE49-F238E27FC236}">
              <a16:creationId xmlns:a16="http://schemas.microsoft.com/office/drawing/2014/main" id="{5159D8A6-9707-C446-E211-2AF14791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>
            <a:extLst>
              <a:ext uri="{FF2B5EF4-FFF2-40B4-BE49-F238E27FC236}">
                <a16:creationId xmlns:a16="http://schemas.microsoft.com/office/drawing/2014/main" id="{DBFD613F-1988-2CA0-63DC-D49813BE8BDC}"/>
              </a:ext>
            </a:extLst>
          </p:cNvPr>
          <p:cNvSpPr/>
          <p:nvPr/>
        </p:nvSpPr>
        <p:spPr>
          <a:xfrm rot="-5912800">
            <a:off x="-1784689" y="43338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>
            <a:extLst>
              <a:ext uri="{FF2B5EF4-FFF2-40B4-BE49-F238E27FC236}">
                <a16:creationId xmlns:a16="http://schemas.microsoft.com/office/drawing/2014/main" id="{6357DB99-806F-455C-0F82-940A77138EB9}"/>
              </a:ext>
            </a:extLst>
          </p:cNvPr>
          <p:cNvSpPr/>
          <p:nvPr/>
        </p:nvSpPr>
        <p:spPr>
          <a:xfrm rot="-5912800">
            <a:off x="10625914" y="-1025491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4;p5">
            <a:extLst>
              <a:ext uri="{FF2B5EF4-FFF2-40B4-BE49-F238E27FC236}">
                <a16:creationId xmlns:a16="http://schemas.microsoft.com/office/drawing/2014/main" id="{87A3D6A6-DEE1-1295-E5EA-7F1ED1C96DC8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Identificação e Características </a:t>
            </a:r>
            <a:endParaRPr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865E7F-624B-7652-744A-5E1739922C04}"/>
              </a:ext>
            </a:extLst>
          </p:cNvPr>
          <p:cNvSpPr txBox="1"/>
          <p:nvPr/>
        </p:nvSpPr>
        <p:spPr>
          <a:xfrm>
            <a:off x="606364" y="1170444"/>
            <a:ext cx="3356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Total de Pessoas Entrevistadas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AE593C-7305-CD65-688D-927EDAD3EADD}"/>
              </a:ext>
            </a:extLst>
          </p:cNvPr>
          <p:cNvSpPr txBox="1"/>
          <p:nvPr/>
        </p:nvSpPr>
        <p:spPr>
          <a:xfrm>
            <a:off x="4404417" y="1100800"/>
            <a:ext cx="158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 </a:t>
            </a:r>
            <a:r>
              <a:rPr lang="pt-BR" sz="2000" b="1" dirty="0">
                <a:solidFill>
                  <a:schemeClr val="bg1"/>
                </a:solidFill>
              </a:rPr>
              <a:t>1.149.197</a:t>
            </a:r>
            <a:endParaRPr lang="pt-BR" sz="1600" b="1" dirty="0">
              <a:solidFill>
                <a:schemeClr val="bg1"/>
              </a:solidFill>
            </a:endParaRPr>
          </a:p>
        </p:txBody>
      </p:sp>
      <p:pic>
        <p:nvPicPr>
          <p:cNvPr id="15" name="Imagem 14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7B9697AE-63F6-6F10-1B91-CB1C0CC0E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80418"/>
            <a:ext cx="4571164" cy="235998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FB75655-0942-6064-C82D-9D63D021A7B8}"/>
              </a:ext>
            </a:extLst>
          </p:cNvPr>
          <p:cNvSpPr txBox="1"/>
          <p:nvPr/>
        </p:nvSpPr>
        <p:spPr>
          <a:xfrm>
            <a:off x="750278" y="4345078"/>
            <a:ext cx="4659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pt-BR" sz="1800" b="1" i="0" dirty="0">
                <a:solidFill>
                  <a:schemeClr val="bg1"/>
                </a:solidFill>
                <a:effectLst/>
                <a:latin typeface="SuperscriptNumbersFontFix"/>
              </a:rPr>
              <a:t>Qual o gênero mais frequente na amostra?</a:t>
            </a:r>
            <a:endParaRPr lang="pt-BR" sz="1800" b="0" i="0" dirty="0">
              <a:solidFill>
                <a:schemeClr val="bg1"/>
              </a:solidFill>
              <a:effectLst/>
              <a:latin typeface="SuperscriptNumbersFontFix"/>
            </a:endParaRPr>
          </a:p>
          <a:p>
            <a:pPr algn="just" rtl="0" fontAlgn="base">
              <a:buNone/>
            </a:pPr>
            <a:r>
              <a:rPr lang="pt-BR" sz="1800" b="0" i="0" dirty="0">
                <a:solidFill>
                  <a:schemeClr val="bg1"/>
                </a:solidFill>
                <a:effectLst/>
                <a:latin typeface="SuperscriptNumbersFontFix"/>
              </a:rPr>
              <a:t>Podemos notar que nossa base </a:t>
            </a:r>
            <a:r>
              <a:rPr lang="pt-BR" sz="1800" dirty="0">
                <a:solidFill>
                  <a:schemeClr val="bg1"/>
                </a:solidFill>
                <a:latin typeface="SuperscriptNumbersFontFix"/>
              </a:rPr>
              <a:t>de</a:t>
            </a:r>
            <a:r>
              <a:rPr lang="pt-BR" sz="1800" b="0" i="0" dirty="0">
                <a:solidFill>
                  <a:schemeClr val="bg1"/>
                </a:solidFill>
                <a:effectLst/>
                <a:latin typeface="SuperscriptNumbersFontFix"/>
              </a:rPr>
              <a:t> dados está bem segmentada, </a:t>
            </a:r>
            <a:r>
              <a:rPr lang="pt-BR" sz="1800" b="1" dirty="0">
                <a:solidFill>
                  <a:schemeClr val="bg1"/>
                </a:solidFill>
                <a:latin typeface="SuperscriptNumbersFontFix"/>
              </a:rPr>
              <a:t>52</a:t>
            </a:r>
            <a:r>
              <a:rPr lang="pt-BR" sz="1800" b="0" i="0" dirty="0">
                <a:solidFill>
                  <a:schemeClr val="bg1"/>
                </a:solidFill>
                <a:effectLst/>
                <a:latin typeface="SuperscriptNumbersFontFix"/>
              </a:rPr>
              <a:t>% dos indivíduos são do sexo feminino, enquanto 48% são do sexo masculino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D0D2E53-CB52-C62F-6576-DFC049D520C4}"/>
              </a:ext>
            </a:extLst>
          </p:cNvPr>
          <p:cNvSpPr txBox="1"/>
          <p:nvPr/>
        </p:nvSpPr>
        <p:spPr>
          <a:xfrm>
            <a:off x="6900380" y="4345078"/>
            <a:ext cx="4273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pt-BR" sz="1800" b="1" i="0" dirty="0">
                <a:solidFill>
                  <a:schemeClr val="bg1"/>
                </a:solidFill>
                <a:effectLst/>
                <a:latin typeface="SuperscriptNumbersFontFix"/>
              </a:rPr>
              <a:t>Qual a faixa de idade dos indivíduos da amostra?</a:t>
            </a:r>
            <a:endParaRPr lang="pt-BR" sz="1800" b="0" i="0" dirty="0">
              <a:solidFill>
                <a:schemeClr val="bg1"/>
              </a:solidFill>
              <a:effectLst/>
              <a:latin typeface="SuperscriptNumbersFontFix"/>
            </a:endParaRPr>
          </a:p>
          <a:p>
            <a:pPr algn="just" rtl="0" fontAlgn="base">
              <a:buNone/>
            </a:pPr>
            <a:r>
              <a:rPr lang="pt-BR" sz="1800" b="0" i="0" dirty="0">
                <a:solidFill>
                  <a:schemeClr val="bg1"/>
                </a:solidFill>
                <a:effectLst/>
                <a:latin typeface="SuperscriptNumbersFontFix"/>
              </a:rPr>
              <a:t>A idade dos indivíduos variou entre 0 e 111 anos, sendo que a média de idade dos entrevistados foi de aproximadamente 36 anos.</a:t>
            </a:r>
          </a:p>
        </p:txBody>
      </p:sp>
      <p:pic>
        <p:nvPicPr>
          <p:cNvPr id="21" name="Imagem 20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3E445931-1986-C5C3-A17A-8A5B7F4B7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637" y="1880417"/>
            <a:ext cx="4571163" cy="2359986"/>
          </a:xfrm>
          <a:prstGeom prst="rect">
            <a:avLst/>
          </a:prstGeom>
        </p:spPr>
      </p:pic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E263B2AF-9272-581C-39D4-6834C0A0D2C4}"/>
              </a:ext>
            </a:extLst>
          </p:cNvPr>
          <p:cNvSpPr/>
          <p:nvPr/>
        </p:nvSpPr>
        <p:spPr>
          <a:xfrm>
            <a:off x="3825074" y="1100800"/>
            <a:ext cx="628022" cy="381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E92A0E0C-C0AD-E973-B942-3C6BB669F051}"/>
              </a:ext>
            </a:extLst>
          </p:cNvPr>
          <p:cNvSpPr/>
          <p:nvPr/>
        </p:nvSpPr>
        <p:spPr>
          <a:xfrm>
            <a:off x="5998645" y="1100800"/>
            <a:ext cx="628022" cy="381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2C92A90-A0A8-6CC9-F705-64CFEA2C5FEA}"/>
              </a:ext>
            </a:extLst>
          </p:cNvPr>
          <p:cNvSpPr txBox="1"/>
          <p:nvPr/>
        </p:nvSpPr>
        <p:spPr>
          <a:xfrm>
            <a:off x="6577988" y="1152836"/>
            <a:ext cx="1642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Casos</a:t>
            </a:r>
            <a:r>
              <a:rPr lang="pt-BR" b="1" dirty="0">
                <a:solidFill>
                  <a:schemeClr val="bg1"/>
                </a:solidFill>
              </a:rPr>
              <a:t> Positivos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345D8976-78B3-7B96-9729-EB1726DF1E71}"/>
              </a:ext>
            </a:extLst>
          </p:cNvPr>
          <p:cNvSpPr/>
          <p:nvPr/>
        </p:nvSpPr>
        <p:spPr>
          <a:xfrm>
            <a:off x="8220894" y="1127927"/>
            <a:ext cx="628022" cy="381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F70A16-76FD-9573-B5D9-79745B720F30}"/>
              </a:ext>
            </a:extLst>
          </p:cNvPr>
          <p:cNvSpPr txBox="1"/>
          <p:nvPr/>
        </p:nvSpPr>
        <p:spPr>
          <a:xfrm>
            <a:off x="8897595" y="1091280"/>
            <a:ext cx="1422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 </a:t>
            </a:r>
            <a:r>
              <a:rPr lang="pt-BR" sz="2000" b="1" dirty="0">
                <a:solidFill>
                  <a:schemeClr val="bg1"/>
                </a:solidFill>
              </a:rPr>
              <a:t>32.922</a:t>
            </a:r>
          </a:p>
        </p:txBody>
      </p:sp>
    </p:spTree>
    <p:extLst>
      <p:ext uri="{BB962C8B-B14F-4D97-AF65-F5344CB8AC3E}">
        <p14:creationId xmlns:p14="http://schemas.microsoft.com/office/powerpoint/2010/main" val="282611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>
          <a:extLst>
            <a:ext uri="{FF2B5EF4-FFF2-40B4-BE49-F238E27FC236}">
              <a16:creationId xmlns:a16="http://schemas.microsoft.com/office/drawing/2014/main" id="{9E15D0EC-2A2A-3E13-6E34-D48B0443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>
            <a:extLst>
              <a:ext uri="{FF2B5EF4-FFF2-40B4-BE49-F238E27FC236}">
                <a16:creationId xmlns:a16="http://schemas.microsoft.com/office/drawing/2014/main" id="{945ECB6D-BB72-5574-2165-0EAA7A63C4F1}"/>
              </a:ext>
            </a:extLst>
          </p:cNvPr>
          <p:cNvSpPr/>
          <p:nvPr/>
        </p:nvSpPr>
        <p:spPr>
          <a:xfrm rot="-5912800">
            <a:off x="-1784689" y="43338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>
            <a:extLst>
              <a:ext uri="{FF2B5EF4-FFF2-40B4-BE49-F238E27FC236}">
                <a16:creationId xmlns:a16="http://schemas.microsoft.com/office/drawing/2014/main" id="{E2263A27-A221-AEE7-AD29-280FE5E900A9}"/>
              </a:ext>
            </a:extLst>
          </p:cNvPr>
          <p:cNvSpPr/>
          <p:nvPr/>
        </p:nvSpPr>
        <p:spPr>
          <a:xfrm rot="-5912800">
            <a:off x="10625914" y="-1025491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4;p5">
            <a:extLst>
              <a:ext uri="{FF2B5EF4-FFF2-40B4-BE49-F238E27FC236}">
                <a16:creationId xmlns:a16="http://schemas.microsoft.com/office/drawing/2014/main" id="{E55DB245-9815-05E8-FB43-29BD4451233B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Identificação e Características </a:t>
            </a:r>
            <a:endParaRPr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9E3D06A-0640-0E98-C1A9-5841A49B0643}"/>
              </a:ext>
            </a:extLst>
          </p:cNvPr>
          <p:cNvSpPr txBox="1"/>
          <p:nvPr/>
        </p:nvSpPr>
        <p:spPr>
          <a:xfrm>
            <a:off x="619650" y="1180032"/>
            <a:ext cx="4659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pt-BR" sz="1800" b="1" i="0" dirty="0">
                <a:solidFill>
                  <a:schemeClr val="bg1"/>
                </a:solidFill>
                <a:effectLst/>
                <a:latin typeface="SuperscriptNumbersFontFix"/>
              </a:rPr>
              <a:t>Qual Região com mais entrevistados?</a:t>
            </a:r>
            <a:endParaRPr lang="pt-BR" sz="1800" b="0" i="0" dirty="0">
              <a:solidFill>
                <a:schemeClr val="bg1"/>
              </a:solidFill>
              <a:effectLst/>
              <a:latin typeface="SuperscriptNumbersFontFix"/>
            </a:endParaRPr>
          </a:p>
          <a:p>
            <a:pPr algn="just" fontAlgn="base"/>
            <a:r>
              <a:rPr lang="pt-BR" sz="1800" dirty="0">
                <a:solidFill>
                  <a:schemeClr val="bg1"/>
                </a:solidFill>
                <a:latin typeface="SuperscriptNumbersFontFix"/>
              </a:rPr>
              <a:t>A região com maior presença de pessoas</a:t>
            </a:r>
          </a:p>
          <a:p>
            <a:pPr algn="just" fontAlgn="base"/>
            <a:r>
              <a:rPr lang="pt-BR" sz="1800" dirty="0">
                <a:solidFill>
                  <a:schemeClr val="bg1"/>
                </a:solidFill>
                <a:latin typeface="SuperscriptNumbersFontFix"/>
              </a:rPr>
              <a:t>entrevistadas é a Nordeste com 350 mil, seguida</a:t>
            </a:r>
          </a:p>
          <a:p>
            <a:pPr algn="just" fontAlgn="base"/>
            <a:r>
              <a:rPr lang="pt-BR" sz="1800" dirty="0">
                <a:solidFill>
                  <a:schemeClr val="bg1"/>
                </a:solidFill>
                <a:latin typeface="SuperscriptNumbersFontFix"/>
              </a:rPr>
              <a:t>bem de perto pela região Sudeste com 336 mil</a:t>
            </a:r>
            <a:endParaRPr lang="pt-BR" sz="1800" b="0" i="0" dirty="0">
              <a:solidFill>
                <a:schemeClr val="bg1"/>
              </a:solidFill>
              <a:effectLst/>
              <a:latin typeface="SuperscriptNumbersFontFix"/>
            </a:endParaRPr>
          </a:p>
        </p:txBody>
      </p:sp>
      <p:pic>
        <p:nvPicPr>
          <p:cNvPr id="4" name="Imagem 3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73E7ADB-C377-F114-95B0-23F3CFBFF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80031"/>
            <a:ext cx="5444651" cy="489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1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 rot="-5912800">
            <a:off x="-1261163" y="4255368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307348" y="1000115"/>
            <a:ext cx="4813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base">
              <a:buNone/>
              <a:defRPr sz="1800" b="1">
                <a:solidFill>
                  <a:schemeClr val="bg1"/>
                </a:solidFill>
                <a:effectLst/>
                <a:latin typeface="SuperscriptNumbersFontFix"/>
              </a:defRPr>
            </a:lvl1pPr>
          </a:lstStyle>
          <a:p>
            <a:r>
              <a:rPr lang="pt-BR" dirty="0"/>
              <a:t>Qual Faixa de idade mais contaminada?</a:t>
            </a:r>
            <a:br>
              <a:rPr lang="pt-BR" dirty="0"/>
            </a:br>
            <a:r>
              <a:rPr lang="pt-BR" b="0" dirty="0"/>
              <a:t>A análise por faixa etária mostra que as maiores proporções de casos positivos ocorreram entre adultos de 18 a 60 anos, faixa etária mais exposta a atividades econômicas e sociais, o que pode explicar o maior risco de contágio. </a:t>
            </a:r>
            <a:endParaRPr b="0" dirty="0"/>
          </a:p>
          <a:p>
            <a:endParaRPr dirty="0"/>
          </a:p>
        </p:txBody>
      </p:sp>
      <p:cxnSp>
        <p:nvCxnSpPr>
          <p:cNvPr id="268" name="Google Shape;268;p7"/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27ED1D9-78F4-8D95-C5D7-8F8F82AC9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248" y="960264"/>
            <a:ext cx="6771610" cy="5145302"/>
          </a:xfrm>
          <a:prstGeom prst="rect">
            <a:avLst/>
          </a:prstGeom>
        </p:spPr>
      </p:pic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6DF02A19-35A3-71BF-B5B1-72B068DD6879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Identificação e Características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B8742330-FF2A-5F6D-A6DB-908751FB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936E9D5E-EDE4-4844-F1C8-4E76563D6678}"/>
              </a:ext>
            </a:extLst>
          </p:cNvPr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>
            <a:extLst>
              <a:ext uri="{FF2B5EF4-FFF2-40B4-BE49-F238E27FC236}">
                <a16:creationId xmlns:a16="http://schemas.microsoft.com/office/drawing/2014/main" id="{445D9325-7227-C88C-5362-B18BEBDDDA0C}"/>
              </a:ext>
            </a:extLst>
          </p:cNvPr>
          <p:cNvSpPr/>
          <p:nvPr/>
        </p:nvSpPr>
        <p:spPr>
          <a:xfrm rot="-5912800">
            <a:off x="-1261163" y="4255368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>
            <a:extLst>
              <a:ext uri="{FF2B5EF4-FFF2-40B4-BE49-F238E27FC236}">
                <a16:creationId xmlns:a16="http://schemas.microsoft.com/office/drawing/2014/main" id="{CC4F0077-7E0E-A240-581A-1D681F459353}"/>
              </a:ext>
            </a:extLst>
          </p:cNvPr>
          <p:cNvSpPr txBox="1"/>
          <p:nvPr/>
        </p:nvSpPr>
        <p:spPr>
          <a:xfrm>
            <a:off x="374855" y="1138615"/>
            <a:ext cx="43531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base">
              <a:buNone/>
              <a:defRPr sz="1800" b="1">
                <a:solidFill>
                  <a:schemeClr val="bg1"/>
                </a:solidFill>
                <a:effectLst/>
                <a:latin typeface="SuperscriptNumbersFontFix"/>
              </a:defRPr>
            </a:lvl1pPr>
          </a:lstStyle>
          <a:p>
            <a:r>
              <a:rPr lang="pt-BR" dirty="0"/>
              <a:t>Quais foram os sintomas mais recorrentes?</a:t>
            </a:r>
          </a:p>
          <a:p>
            <a:r>
              <a:rPr lang="pt-BR" b="0" dirty="0"/>
              <a:t>Segundo a OMS, os quatros primeiros sintomas: a febre, a tosse, dor de garganta e a dificuldade de respirar ocorrem frequentemente em pessoas que testaram positivo para COVID-19.</a:t>
            </a:r>
            <a:endParaRPr dirty="0"/>
          </a:p>
        </p:txBody>
      </p:sp>
      <p:cxnSp>
        <p:nvCxnSpPr>
          <p:cNvPr id="268" name="Google Shape;268;p7">
            <a:extLst>
              <a:ext uri="{FF2B5EF4-FFF2-40B4-BE49-F238E27FC236}">
                <a16:creationId xmlns:a16="http://schemas.microsoft.com/office/drawing/2014/main" id="{D1926BF1-FFAE-C529-3D74-BABD66C3D714}"/>
              </a:ext>
            </a:extLst>
          </p:cNvPr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802D6F26-03B1-60F8-F21E-E63391FFFC69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Aspectos Clínicos - Sintomas</a:t>
            </a:r>
            <a:endParaRPr dirty="0"/>
          </a:p>
        </p:txBody>
      </p:sp>
      <p:pic>
        <p:nvPicPr>
          <p:cNvPr id="7" name="Imagem 6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2510B3B4-9BC7-FE7F-DF89-23A993781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852" y="1118142"/>
            <a:ext cx="6781800" cy="512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9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FD7D4617-DC0C-F458-A4F8-84049701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124AA611-13B9-DB15-AECF-47A5EEFEBE68}"/>
              </a:ext>
            </a:extLst>
          </p:cNvPr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>
            <a:extLst>
              <a:ext uri="{FF2B5EF4-FFF2-40B4-BE49-F238E27FC236}">
                <a16:creationId xmlns:a16="http://schemas.microsoft.com/office/drawing/2014/main" id="{D7CC0F33-8C50-72B6-56B8-09FB21CF8CAE}"/>
              </a:ext>
            </a:extLst>
          </p:cNvPr>
          <p:cNvSpPr/>
          <p:nvPr/>
        </p:nvSpPr>
        <p:spPr>
          <a:xfrm rot="-5912800">
            <a:off x="-1261163" y="4255368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>
            <a:extLst>
              <a:ext uri="{FF2B5EF4-FFF2-40B4-BE49-F238E27FC236}">
                <a16:creationId xmlns:a16="http://schemas.microsoft.com/office/drawing/2014/main" id="{B42F88BA-8E8D-AEFA-A217-C901818CCE63}"/>
              </a:ext>
            </a:extLst>
          </p:cNvPr>
          <p:cNvSpPr txBox="1"/>
          <p:nvPr/>
        </p:nvSpPr>
        <p:spPr>
          <a:xfrm>
            <a:off x="419560" y="1606493"/>
            <a:ext cx="44219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base">
              <a:buNone/>
              <a:defRPr sz="1800" b="1">
                <a:solidFill>
                  <a:schemeClr val="bg1"/>
                </a:solidFill>
                <a:effectLst/>
                <a:latin typeface="SuperscriptNumbersFontFix"/>
              </a:defRPr>
            </a:lvl1pPr>
          </a:lstStyle>
          <a:p>
            <a:r>
              <a:rPr lang="pt-BR" sz="2000" dirty="0"/>
              <a:t>Qual o teste com Mais eficácia?</a:t>
            </a:r>
            <a:br>
              <a:rPr lang="pt-BR" sz="2000" b="0" dirty="0"/>
            </a:br>
            <a:r>
              <a:rPr lang="pt-BR" sz="2000" b="0" dirty="0" err="1"/>
              <a:t>O</a:t>
            </a:r>
            <a:r>
              <a:rPr lang="pt-BR" sz="2000" b="0" dirty="0"/>
              <a:t> teste </a:t>
            </a:r>
            <a:r>
              <a:rPr lang="pt-BR" sz="2000" b="0" dirty="0" err="1"/>
              <a:t>Swab</a:t>
            </a:r>
            <a:r>
              <a:rPr lang="pt-BR" sz="2000" b="0" dirty="0"/>
              <a:t> apresenta a maior amostragem por ser o método de referência para detecção de infecções ativas. Sua alta frequência reflete a priorização clínica para diagnósticos precoces e medidas de controle de transmissão, enquanto os testes de sangue (dedo e coleta) atuam como ferramentas complementares de mapeamento sorológico.</a:t>
            </a:r>
            <a:endParaRPr sz="2000" b="0" dirty="0"/>
          </a:p>
        </p:txBody>
      </p:sp>
      <p:cxnSp>
        <p:nvCxnSpPr>
          <p:cNvPr id="268" name="Google Shape;268;p7">
            <a:extLst>
              <a:ext uri="{FF2B5EF4-FFF2-40B4-BE49-F238E27FC236}">
                <a16:creationId xmlns:a16="http://schemas.microsoft.com/office/drawing/2014/main" id="{1B2795A1-B888-5319-AF69-D86AE9F5F68C}"/>
              </a:ext>
            </a:extLst>
          </p:cNvPr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8BE7CF67-A0B9-93D1-C8C4-6862DC8AA192}"/>
              </a:ext>
            </a:extLst>
          </p:cNvPr>
          <p:cNvSpPr txBox="1"/>
          <p:nvPr/>
        </p:nvSpPr>
        <p:spPr>
          <a:xfrm>
            <a:off x="838200" y="13648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pic>
        <p:nvPicPr>
          <p:cNvPr id="3" name="Imagem 2" descr="Gráfico, Gráfico de cascata&#10;&#10;O conteúdo gerado por IA pode estar incorreto.">
            <a:extLst>
              <a:ext uri="{FF2B5EF4-FFF2-40B4-BE49-F238E27FC236}">
                <a16:creationId xmlns:a16="http://schemas.microsoft.com/office/drawing/2014/main" id="{AAF9A35A-6022-DBD0-182F-FED9D89F7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824" y="844604"/>
            <a:ext cx="6505616" cy="5212067"/>
          </a:xfrm>
          <a:prstGeom prst="rect">
            <a:avLst/>
          </a:prstGeom>
        </p:spPr>
      </p:pic>
      <p:sp>
        <p:nvSpPr>
          <p:cNvPr id="6" name="Google Shape;174;p5">
            <a:extLst>
              <a:ext uri="{FF2B5EF4-FFF2-40B4-BE49-F238E27FC236}">
                <a16:creationId xmlns:a16="http://schemas.microsoft.com/office/drawing/2014/main" id="{D2A96EAA-6250-CF8E-95AA-8538231E6309}"/>
              </a:ext>
            </a:extLst>
          </p:cNvPr>
          <p:cNvSpPr txBox="1"/>
          <p:nvPr/>
        </p:nvSpPr>
        <p:spPr>
          <a:xfrm>
            <a:off x="777240" y="-29627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sp>
        <p:nvSpPr>
          <p:cNvPr id="8" name="Google Shape;174;p5">
            <a:extLst>
              <a:ext uri="{FF2B5EF4-FFF2-40B4-BE49-F238E27FC236}">
                <a16:creationId xmlns:a16="http://schemas.microsoft.com/office/drawing/2014/main" id="{C7D74B89-2363-FB3E-17EE-39AB78F37C24}"/>
              </a:ext>
            </a:extLst>
          </p:cNvPr>
          <p:cNvSpPr txBox="1"/>
          <p:nvPr/>
        </p:nvSpPr>
        <p:spPr>
          <a:xfrm>
            <a:off x="838200" y="13648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sp>
        <p:nvSpPr>
          <p:cNvPr id="10" name="Google Shape;174;p5">
            <a:extLst>
              <a:ext uri="{FF2B5EF4-FFF2-40B4-BE49-F238E27FC236}">
                <a16:creationId xmlns:a16="http://schemas.microsoft.com/office/drawing/2014/main" id="{BD433FB3-7A1A-9EE7-6A56-E0257E345E02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Aspectos Clínicos - Sintomas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039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B76E4D73-A854-C360-FAEF-9F2B0F5D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A1340CED-8A60-0AF7-A0CA-84379E6E0620}"/>
              </a:ext>
            </a:extLst>
          </p:cNvPr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>
            <a:extLst>
              <a:ext uri="{FF2B5EF4-FFF2-40B4-BE49-F238E27FC236}">
                <a16:creationId xmlns:a16="http://schemas.microsoft.com/office/drawing/2014/main" id="{5DFF6F08-2C1E-17FB-7E6B-D581683A9F1A}"/>
              </a:ext>
            </a:extLst>
          </p:cNvPr>
          <p:cNvSpPr/>
          <p:nvPr/>
        </p:nvSpPr>
        <p:spPr>
          <a:xfrm rot="-5912800">
            <a:off x="-1261163" y="4255368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>
            <a:extLst>
              <a:ext uri="{FF2B5EF4-FFF2-40B4-BE49-F238E27FC236}">
                <a16:creationId xmlns:a16="http://schemas.microsoft.com/office/drawing/2014/main" id="{CF3D44AB-E8C4-9887-FE6B-202B17ABA700}"/>
              </a:ext>
            </a:extLst>
          </p:cNvPr>
          <p:cNvSpPr txBox="1"/>
          <p:nvPr/>
        </p:nvSpPr>
        <p:spPr>
          <a:xfrm>
            <a:off x="419560" y="1406008"/>
            <a:ext cx="442196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base">
              <a:buNone/>
              <a:defRPr sz="1800" b="1">
                <a:solidFill>
                  <a:schemeClr val="bg1"/>
                </a:solidFill>
                <a:effectLst/>
                <a:latin typeface="SuperscriptNumbersFontFix"/>
              </a:defRPr>
            </a:lvl1pPr>
          </a:lstStyle>
          <a:p>
            <a:r>
              <a:rPr lang="pt-BR" sz="2000" dirty="0"/>
              <a:t>Comportamento da População?</a:t>
            </a:r>
            <a:br>
              <a:rPr lang="pt-BR" sz="2000" b="0" dirty="0"/>
            </a:br>
            <a:r>
              <a:rPr lang="pt-BR" sz="2000" b="0" dirty="0"/>
              <a:t>O gráfico evidencia a relação entre o comportamento da população e a ocorrência de casos positivos de COVID-19 em 2020. Observa-se que medidas parciais de restrição de contato estiveram associadas a percentuais elevados de positividade. Em contrapartida, o isolamento rigoroso apresentou menor taxa de casos positivos, indicando maior efetividade no controle da transmissão. Esses resultados reforçam a importância das medidas não farmacológicas no enfrentamento da pandemia.</a:t>
            </a:r>
            <a:endParaRPr sz="2000" b="0" dirty="0"/>
          </a:p>
        </p:txBody>
      </p:sp>
      <p:cxnSp>
        <p:nvCxnSpPr>
          <p:cNvPr id="268" name="Google Shape;268;p7">
            <a:extLst>
              <a:ext uri="{FF2B5EF4-FFF2-40B4-BE49-F238E27FC236}">
                <a16:creationId xmlns:a16="http://schemas.microsoft.com/office/drawing/2014/main" id="{81CD9864-5B79-A4E6-0E36-6CC9B04DC901}"/>
              </a:ext>
            </a:extLst>
          </p:cNvPr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5A655CDF-5DF9-D23D-4F49-F086D2C25514}"/>
              </a:ext>
            </a:extLst>
          </p:cNvPr>
          <p:cNvSpPr txBox="1"/>
          <p:nvPr/>
        </p:nvSpPr>
        <p:spPr>
          <a:xfrm>
            <a:off x="838200" y="13648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sp>
        <p:nvSpPr>
          <p:cNvPr id="6" name="Google Shape;174;p5">
            <a:extLst>
              <a:ext uri="{FF2B5EF4-FFF2-40B4-BE49-F238E27FC236}">
                <a16:creationId xmlns:a16="http://schemas.microsoft.com/office/drawing/2014/main" id="{7948942A-D766-20BD-C166-450B8136BABE}"/>
              </a:ext>
            </a:extLst>
          </p:cNvPr>
          <p:cNvSpPr txBox="1"/>
          <p:nvPr/>
        </p:nvSpPr>
        <p:spPr>
          <a:xfrm>
            <a:off x="777240" y="-29627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sp>
        <p:nvSpPr>
          <p:cNvPr id="8" name="Google Shape;174;p5">
            <a:extLst>
              <a:ext uri="{FF2B5EF4-FFF2-40B4-BE49-F238E27FC236}">
                <a16:creationId xmlns:a16="http://schemas.microsoft.com/office/drawing/2014/main" id="{23DAEFD6-6AA9-FEDC-E569-3AC1AEAD951D}"/>
              </a:ext>
            </a:extLst>
          </p:cNvPr>
          <p:cNvSpPr txBox="1"/>
          <p:nvPr/>
        </p:nvSpPr>
        <p:spPr>
          <a:xfrm>
            <a:off x="838200" y="13648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sp>
        <p:nvSpPr>
          <p:cNvPr id="10" name="Google Shape;174;p5">
            <a:extLst>
              <a:ext uri="{FF2B5EF4-FFF2-40B4-BE49-F238E27FC236}">
                <a16:creationId xmlns:a16="http://schemas.microsoft.com/office/drawing/2014/main" id="{B3B4FB1F-6CC6-503A-AC0F-02AC8D75FDDD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Aspectos Clínicos - Sintomas</a:t>
            </a: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B1ED23-AAF5-469C-01A4-4787567AF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088" y="1054133"/>
            <a:ext cx="6643455" cy="521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8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FD7D4617-DC0C-F458-A4F8-84049701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124AA611-13B9-DB15-AECF-47A5EEFEBE68}"/>
              </a:ext>
            </a:extLst>
          </p:cNvPr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>
            <a:extLst>
              <a:ext uri="{FF2B5EF4-FFF2-40B4-BE49-F238E27FC236}">
                <a16:creationId xmlns:a16="http://schemas.microsoft.com/office/drawing/2014/main" id="{D7CC0F33-8C50-72B6-56B8-09FB21CF8CAE}"/>
              </a:ext>
            </a:extLst>
          </p:cNvPr>
          <p:cNvSpPr/>
          <p:nvPr/>
        </p:nvSpPr>
        <p:spPr>
          <a:xfrm rot="-5912800">
            <a:off x="-1214296" y="5592687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>
            <a:extLst>
              <a:ext uri="{FF2B5EF4-FFF2-40B4-BE49-F238E27FC236}">
                <a16:creationId xmlns:a16="http://schemas.microsoft.com/office/drawing/2014/main" id="{B42F88BA-8E8D-AEFA-A217-C901818CCE63}"/>
              </a:ext>
            </a:extLst>
          </p:cNvPr>
          <p:cNvSpPr txBox="1"/>
          <p:nvPr/>
        </p:nvSpPr>
        <p:spPr>
          <a:xfrm>
            <a:off x="121920" y="1157946"/>
            <a:ext cx="51449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base">
              <a:buNone/>
              <a:defRPr sz="1800" b="1">
                <a:solidFill>
                  <a:schemeClr val="bg1"/>
                </a:solidFill>
                <a:effectLst/>
                <a:latin typeface="SuperscriptNumbersFontFix"/>
              </a:defRPr>
            </a:lvl1pPr>
          </a:lstStyle>
          <a:p>
            <a:r>
              <a:rPr lang="pt-BR" sz="2000" dirty="0"/>
              <a:t>Qual a maior concentração de Casos?</a:t>
            </a:r>
            <a:br>
              <a:rPr lang="pt-BR" sz="2000" b="0" dirty="0"/>
            </a:br>
            <a:r>
              <a:rPr lang="pt-BR" sz="2000" b="0" dirty="0" err="1"/>
              <a:t>A</a:t>
            </a:r>
            <a:r>
              <a:rPr lang="pt-BR" sz="2000" b="0" dirty="0"/>
              <a:t> análise evidencia maior concentração de casos de COVID-19 com necessidade de intubação nas regiões Sudeste e Nordeste entre setembro e novembro de 2020. As demais regiões apresentaram percentuais inferiores, com variações moderadas ao longo do período. A tendência de redução em novembro pode indicar efeitos combinados de intervenções assistenciais, expansão da infraestrutura hospitalar e adaptação dos protocolos clínicos.</a:t>
            </a:r>
            <a:endParaRPr sz="2000" b="0" dirty="0"/>
          </a:p>
        </p:txBody>
      </p:sp>
      <p:cxnSp>
        <p:nvCxnSpPr>
          <p:cNvPr id="268" name="Google Shape;268;p7">
            <a:extLst>
              <a:ext uri="{FF2B5EF4-FFF2-40B4-BE49-F238E27FC236}">
                <a16:creationId xmlns:a16="http://schemas.microsoft.com/office/drawing/2014/main" id="{1B2795A1-B888-5319-AF69-D86AE9F5F68C}"/>
              </a:ext>
            </a:extLst>
          </p:cNvPr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8BE7CF67-A0B9-93D1-C8C4-6862DC8AA192}"/>
              </a:ext>
            </a:extLst>
          </p:cNvPr>
          <p:cNvSpPr txBox="1"/>
          <p:nvPr/>
        </p:nvSpPr>
        <p:spPr>
          <a:xfrm>
            <a:off x="838200" y="13648"/>
            <a:ext cx="10515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F9A35A-6022-DBD0-182F-FED9D89F70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359" y="1157946"/>
            <a:ext cx="6505616" cy="4585383"/>
          </a:xfrm>
          <a:prstGeom prst="rect">
            <a:avLst/>
          </a:prstGeom>
        </p:spPr>
      </p:pic>
      <p:sp>
        <p:nvSpPr>
          <p:cNvPr id="5" name="Google Shape;174;p5">
            <a:extLst>
              <a:ext uri="{FF2B5EF4-FFF2-40B4-BE49-F238E27FC236}">
                <a16:creationId xmlns:a16="http://schemas.microsoft.com/office/drawing/2014/main" id="{A31421AD-9DAB-9A64-1C07-226BCA938A61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Socioeconômico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581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170827EE-0DFE-2D7C-35F2-BA2C520E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0061F28F-D040-2739-0893-F9C3523B0704}"/>
              </a:ext>
            </a:extLst>
          </p:cNvPr>
          <p:cNvSpPr/>
          <p:nvPr/>
        </p:nvSpPr>
        <p:spPr>
          <a:xfrm rot="-5912800">
            <a:off x="9999597" y="-902703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>
            <a:extLst>
              <a:ext uri="{FF2B5EF4-FFF2-40B4-BE49-F238E27FC236}">
                <a16:creationId xmlns:a16="http://schemas.microsoft.com/office/drawing/2014/main" id="{8AE47127-A62E-341A-8CB2-588C52BAACF0}"/>
              </a:ext>
            </a:extLst>
          </p:cNvPr>
          <p:cNvSpPr/>
          <p:nvPr/>
        </p:nvSpPr>
        <p:spPr>
          <a:xfrm rot="-5912800">
            <a:off x="-1261163" y="4255368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>
            <a:extLst>
              <a:ext uri="{FF2B5EF4-FFF2-40B4-BE49-F238E27FC236}">
                <a16:creationId xmlns:a16="http://schemas.microsoft.com/office/drawing/2014/main" id="{12BCF52B-D12B-8C3B-7AC5-7080CF1D25E7}"/>
              </a:ext>
            </a:extLst>
          </p:cNvPr>
          <p:cNvCxnSpPr/>
          <p:nvPr/>
        </p:nvCxnSpPr>
        <p:spPr>
          <a:xfrm>
            <a:off x="0" y="3429000"/>
            <a:ext cx="12070080" cy="0"/>
          </a:xfrm>
          <a:prstGeom prst="straightConnector1">
            <a:avLst/>
          </a:prstGeom>
          <a:noFill/>
          <a:ln w="9525" cap="flat" cmpd="sng">
            <a:solidFill>
              <a:srgbClr val="CCCCCC">
                <a:alpha val="21960"/>
              </a:srgbClr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4" name="Google Shape;174;p5">
            <a:extLst>
              <a:ext uri="{FF2B5EF4-FFF2-40B4-BE49-F238E27FC236}">
                <a16:creationId xmlns:a16="http://schemas.microsoft.com/office/drawing/2014/main" id="{2ED2CDD7-FA03-1430-A5C9-36C870A6A3B9}"/>
              </a:ext>
            </a:extLst>
          </p:cNvPr>
          <p:cNvSpPr txBox="1"/>
          <p:nvPr/>
        </p:nvSpPr>
        <p:spPr>
          <a:xfrm>
            <a:off x="838200" y="13648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pt-BR" sz="4800" b="1" dirty="0">
                <a:solidFill>
                  <a:srgbClr val="FFFFFF"/>
                </a:solidFill>
                <a:latin typeface="Play"/>
                <a:sym typeface="Play"/>
              </a:rPr>
              <a:t>Socioeconômico</a:t>
            </a:r>
            <a:endParaRPr dirty="0"/>
          </a:p>
        </p:txBody>
      </p:sp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C986AEB-399D-0B64-CEA8-A6E95302A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592" y="844604"/>
            <a:ext cx="5876056" cy="526122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C415FC7-05BE-C28C-A18A-2D01652F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4" y="926122"/>
            <a:ext cx="547774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Onde </a:t>
            </a:r>
            <a:r>
              <a:rPr lang="pt-BR" alt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  <a:t>houve maior volume de atendimento?</a:t>
            </a:r>
            <a:br>
              <a:rPr lang="pt-BR" alt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b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Predominância do Setor Público: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Observa-se a centralidade da rede pública em todos os estratos, independentemente do acesso à saúde suplementar.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Comportamento dos Beneficiários: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Entre os indivíduos com plano de saúde, a utilização da rede pública (32,26%) é superior à da rede privada (1,58%).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Acesso de Não Beneficiários: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 atendimento privado para quem não possui convênio é residual, representando apenas 0,24% da amostra.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Conclusão: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Os dados evidenciam uma alta dependência do sistema público de saúde, mesmo entre o contingente populacional com cobertura privada.</a:t>
            </a:r>
          </a:p>
        </p:txBody>
      </p:sp>
    </p:spTree>
    <p:extLst>
      <p:ext uri="{BB962C8B-B14F-4D97-AF65-F5344CB8AC3E}">
        <p14:creationId xmlns:p14="http://schemas.microsoft.com/office/powerpoint/2010/main" val="292321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"/>
          <p:cNvSpPr txBox="1"/>
          <p:nvPr/>
        </p:nvSpPr>
        <p:spPr>
          <a:xfrm>
            <a:off x="-264811" y="249343"/>
            <a:ext cx="42875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Play"/>
              <a:buNone/>
            </a:pPr>
            <a:r>
              <a:rPr lang="pt-BR" sz="2400" b="1" i="0" u="none" strike="noStrike" cap="none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INSIGHTS</a:t>
            </a:r>
            <a:endParaRPr sz="2400" b="1" i="0" u="none" strike="noStrike" cap="none">
              <a:solidFill>
                <a:srgbClr val="F2F2F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9" name="Google Shape;389;p13"/>
          <p:cNvSpPr/>
          <p:nvPr/>
        </p:nvSpPr>
        <p:spPr>
          <a:xfrm rot="-5912800">
            <a:off x="-707893" y="4815472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 rot="-5912800">
            <a:off x="10462632" y="-9293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13" descr="Insight - Free business icon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938" y="59260"/>
            <a:ext cx="899885" cy="899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3" descr="Insight - Free business icon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7451" y="73774"/>
            <a:ext cx="899885" cy="89988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3"/>
          <p:cNvSpPr txBox="1"/>
          <p:nvPr/>
        </p:nvSpPr>
        <p:spPr>
          <a:xfrm>
            <a:off x="1344603" y="711008"/>
            <a:ext cx="945018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base analisada contempla 1.149.197 indivíduos entrevistados, com distribuição equilibrada entre gêneros (52% feminino e 48% masculino) e idade média aproximada de 36 anos, garantindo representatividade populacional relevante.</a:t>
            </a:r>
          </a:p>
          <a:p>
            <a:b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maior concentração de entrevistados está nas regiões Nordeste (≈350 mil) e Sudeste (≈336 mil), refletindo maior densidade populacional e impacto regional da pandemia.</a:t>
            </a:r>
          </a:p>
          <a:p>
            <a:b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Entre os 32.922 casos positivos identificados, observa-se maior incidência na faixa etária de 18 a 60 anos, grupo economicamente ativo e mais exposto a deslocamentos e interações sociais.</a:t>
            </a:r>
          </a:p>
          <a:p>
            <a:b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 ponto de vista clínico, os sintomas mais recorrentes entre os casos positivos foram febre, tosse, dor de garganta e dificuldade respiratória, com destaque para a perda de olfato ou paladar como sintoma altamente associado à positividade.</a:t>
            </a:r>
          </a:p>
          <a:p>
            <a:b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teste </a:t>
            </a:r>
            <a:r>
              <a:rPr lang="pt-BR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Swab</a:t>
            </a:r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apresentou a maior amostragem, consolidando-se como principal método diagnóstico para infecções ativas, enquanto os testes de sangue tiveram papel complementar no acompanhamento sorológico.</a:t>
            </a:r>
          </a:p>
          <a:p>
            <a:b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Observa-se forte dependência do sistema público de saúde, inclusive por indivíduos com plano privado.</a:t>
            </a:r>
          </a:p>
          <a:p>
            <a:endParaRPr lang="pt-BR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Medidas de isolamento rigoroso mostraram maior efetividade na redução de casos, enquanto restrições parciais estiveram associadas a maior positividade.</a:t>
            </a:r>
            <a:endParaRPr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 rot="-5912800">
            <a:off x="-1233147" y="41306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993567" y="919405"/>
            <a:ext cx="10120087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Reforçar a vigilância epidemiológica</a:t>
            </a:r>
            <a:r>
              <a:rPr lang="pt-BR" sz="1800" dirty="0">
                <a:solidFill>
                  <a:srgbClr val="F2F2F2"/>
                </a:solidFill>
              </a:rPr>
              <a:t>, com foco em adultos economicamente ativos (18–60 anos), especialmente nas regiões Nordeste e Sudeste.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Ampliar a capacidade de testagem com </a:t>
            </a:r>
            <a:r>
              <a:rPr lang="pt-BR" sz="1800" b="1" dirty="0" err="1">
                <a:solidFill>
                  <a:srgbClr val="F2F2F2"/>
                </a:solidFill>
              </a:rPr>
              <a:t>Swab</a:t>
            </a:r>
            <a:r>
              <a:rPr lang="pt-BR" sz="1800" dirty="0">
                <a:solidFill>
                  <a:srgbClr val="F2F2F2"/>
                </a:solidFill>
              </a:rPr>
              <a:t>, priorizando diagnósticos precoces para rápida interrupção das cadeias de transmissão.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Planejar e expandir leitos clínicos e de UTI</a:t>
            </a:r>
            <a:r>
              <a:rPr lang="pt-BR" sz="1800" dirty="0">
                <a:solidFill>
                  <a:srgbClr val="F2F2F2"/>
                </a:solidFill>
              </a:rPr>
              <a:t>, considerando a possibilidade de aumento de casos graves e necessidade de intubação.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Fortalecer a rede pública de atendimento</a:t>
            </a:r>
            <a:r>
              <a:rPr lang="pt-BR" sz="1800" dirty="0">
                <a:solidFill>
                  <a:srgbClr val="F2F2F2"/>
                </a:solidFill>
              </a:rPr>
              <a:t>, reconhecendo sua centralidade mesmo para pacientes com cobertura privada.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Padronizar e atualizar protocolos clínicos</a:t>
            </a:r>
            <a:r>
              <a:rPr lang="pt-BR" sz="1800" dirty="0">
                <a:solidFill>
                  <a:srgbClr val="F2F2F2"/>
                </a:solidFill>
              </a:rPr>
              <a:t>, incorporando lições aprendidas durante os picos anteriores da pandemia.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Atuar de forma integrada com autoridades sanitárias</a:t>
            </a:r>
            <a:r>
              <a:rPr lang="pt-BR" sz="1800" dirty="0">
                <a:solidFill>
                  <a:srgbClr val="F2F2F2"/>
                </a:solidFill>
              </a:rPr>
              <a:t>, incentivando medidas não farmacológicas, especialmente isolamento social rigoroso em momentos críticos.</a:t>
            </a:r>
          </a:p>
          <a:p>
            <a:pPr marL="342900" lvl="0" indent="-342900">
              <a:buClr>
                <a:schemeClr val="bg1"/>
              </a:buClr>
              <a:buAutoNum type="arabicPeriod"/>
            </a:pPr>
            <a:endParaRPr lang="pt-BR" sz="1800" dirty="0">
              <a:solidFill>
                <a:srgbClr val="F2F2F2"/>
              </a:solidFill>
            </a:endParaRPr>
          </a:p>
          <a:p>
            <a:pPr marL="342900" lvl="0" indent="-342900">
              <a:buClr>
                <a:schemeClr val="bg1"/>
              </a:buClr>
              <a:buAutoNum type="arabicPeriod"/>
            </a:pPr>
            <a:r>
              <a:rPr lang="pt-BR" sz="1800" b="1" dirty="0">
                <a:solidFill>
                  <a:srgbClr val="F2F2F2"/>
                </a:solidFill>
              </a:rPr>
              <a:t>Capacitar continuamente as equipes de saúde</a:t>
            </a:r>
            <a:r>
              <a:rPr lang="pt-BR" sz="1800" dirty="0">
                <a:solidFill>
                  <a:srgbClr val="F2F2F2"/>
                </a:solidFill>
              </a:rPr>
              <a:t>, garantindo resposta rápida e qualificada diante de novos surtos.</a:t>
            </a:r>
          </a:p>
        </p:txBody>
      </p:sp>
      <p:sp>
        <p:nvSpPr>
          <p:cNvPr id="431" name="Google Shape;431;p16"/>
          <p:cNvSpPr txBox="1"/>
          <p:nvPr/>
        </p:nvSpPr>
        <p:spPr>
          <a:xfrm>
            <a:off x="812875" y="264774"/>
            <a:ext cx="1048147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2F2F2"/>
              </a:buClr>
              <a:buSzPts val="2400"/>
            </a:pPr>
            <a:r>
              <a:rPr lang="pt-BR" sz="2400" b="1" dirty="0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Principais Ações que o Hospital Deve Adotar em um Novo Surto</a:t>
            </a:r>
            <a:endParaRPr dirty="0"/>
          </a:p>
        </p:txBody>
      </p:sp>
      <p:pic>
        <p:nvPicPr>
          <p:cNvPr id="433" name="Google Shape;433;p16" descr="Médico estrutura de tópico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540" y="2932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6" descr="Médico estrutura de tópico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000" y="2932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"/>
          <p:cNvSpPr/>
          <p:nvPr/>
        </p:nvSpPr>
        <p:spPr>
          <a:xfrm rot="-5912800">
            <a:off x="-1233147" y="4130689"/>
            <a:ext cx="4104992" cy="3966534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 rot="-5912800">
            <a:off x="10437232" y="-865837"/>
            <a:ext cx="3509534" cy="3391162"/>
          </a:xfrm>
          <a:custGeom>
            <a:avLst/>
            <a:gdLst/>
            <a:ahLst/>
            <a:cxnLst/>
            <a:rect l="l" t="t" r="r" b="b"/>
            <a:pathLst>
              <a:path w="9623566" h="9503271" extrusionOk="0">
                <a:moveTo>
                  <a:pt x="0" y="0"/>
                </a:moveTo>
                <a:lnTo>
                  <a:pt x="9623566" y="0"/>
                </a:lnTo>
                <a:lnTo>
                  <a:pt x="9623566" y="9503271"/>
                </a:lnTo>
                <a:lnTo>
                  <a:pt x="0" y="9503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</a:pP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-119668" y="249343"/>
            <a:ext cx="42875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Play"/>
              <a:buNone/>
            </a:pPr>
            <a:r>
              <a:rPr lang="pt-BR" sz="2400" b="1">
                <a:solidFill>
                  <a:srgbClr val="F2F2F2"/>
                </a:solidFill>
                <a:latin typeface="Play"/>
                <a:ea typeface="Play"/>
                <a:cs typeface="Play"/>
                <a:sym typeface="Play"/>
              </a:rPr>
              <a:t>CONCLUSÃO</a:t>
            </a:r>
            <a:endParaRPr sz="2400" b="1" i="0" u="none" strike="noStrike" cap="none">
              <a:solidFill>
                <a:srgbClr val="F2F2F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44" name="Google Shape;444;p17" descr="Conclusão - ícones de tecnologia gráti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835" y="182207"/>
            <a:ext cx="719165" cy="71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7" descr="Conclusão - ícones de tecnologia gráti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348" y="188364"/>
            <a:ext cx="719165" cy="71916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 txBox="1"/>
          <p:nvPr/>
        </p:nvSpPr>
        <p:spPr>
          <a:xfrm>
            <a:off x="639097" y="1317523"/>
            <a:ext cx="9988015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sz="2400" dirty="0">
                <a:solidFill>
                  <a:schemeClr val="bg1"/>
                </a:solidFill>
              </a:rPr>
              <a:t>	Os resultados demonstram que a COVID-19 impactou de forma mais intensa adultos em idade produtiva e regiões com maior densidade populacional, evidenciando desigualdades regionais e elevada pressão sobre o sistema público de saúde. A predominância do uso da rede pública, inclusive por beneficiários de planos privados, reforça seu papel estratégico em situações de crise sanitária. Ademais, a associação entre isolamento rigoroso e menor taxa de positividade confirma a eficácia das medidas não farmacológicas. Assim, a preparação hospitalar para novos surtos deve priorizar vigilância ativa, expansão da capacidade assistencial, fortalecimento da rede pública e integração entre ações clínicas e políticas de saúde pública.</a:t>
            </a: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1600" b="1" dirty="0">
                <a:solidFill>
                  <a:schemeClr val="bg1"/>
                </a:solidFill>
              </a:rPr>
            </a:b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1812</Words>
  <Application>Microsoft Office PowerPoint</Application>
  <PresentationFormat>Widescreen</PresentationFormat>
  <Paragraphs>183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Aptos</vt:lpstr>
      <vt:lpstr>SuperscriptNumbersFontFix</vt:lpstr>
      <vt:lpstr>Proxima Nova</vt:lpstr>
      <vt:lpstr>Play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Heitor Tanzi</dc:creator>
  <cp:lastModifiedBy>willian teixeira</cp:lastModifiedBy>
  <cp:revision>15</cp:revision>
  <dcterms:created xsi:type="dcterms:W3CDTF">2025-10-02T02:22:53Z</dcterms:created>
  <dcterms:modified xsi:type="dcterms:W3CDTF">2026-01-05T21:33:09Z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c996bf-6aee-415c-aa4c-e35ad0009c67_Enabled">
    <vt:lpwstr>true</vt:lpwstr>
  </property>
  <property fmtid="{D5CDD505-2E9C-101B-9397-08002B2CF9AE}" pid="3" name="MSIP_Label_4fc996bf-6aee-415c-aa4c-e35ad0009c67_SetDate">
    <vt:lpwstr>2025-12-29T21:21:42Z</vt:lpwstr>
  </property>
  <property fmtid="{D5CDD505-2E9C-101B-9397-08002B2CF9AE}" pid="4" name="MSIP_Label_4fc996bf-6aee-415c-aa4c-e35ad0009c67_Method">
    <vt:lpwstr>Standard</vt:lpwstr>
  </property>
  <property fmtid="{D5CDD505-2E9C-101B-9397-08002B2CF9AE}" pid="5" name="MSIP_Label_4fc996bf-6aee-415c-aa4c-e35ad0009c67_Name">
    <vt:lpwstr>Compartilhamento Interno</vt:lpwstr>
  </property>
  <property fmtid="{D5CDD505-2E9C-101B-9397-08002B2CF9AE}" pid="6" name="MSIP_Label_4fc996bf-6aee-415c-aa4c-e35ad0009c67_SiteId">
    <vt:lpwstr>591669a0-183f-49a5-98f4-9aa0d0b63d81</vt:lpwstr>
  </property>
  <property fmtid="{D5CDD505-2E9C-101B-9397-08002B2CF9AE}" pid="7" name="MSIP_Label_4fc996bf-6aee-415c-aa4c-e35ad0009c67_ActionId">
    <vt:lpwstr>1ceb2e9b-817c-4218-bd75-286f81b85e45</vt:lpwstr>
  </property>
  <property fmtid="{D5CDD505-2E9C-101B-9397-08002B2CF9AE}" pid="8" name="MSIP_Label_4fc996bf-6aee-415c-aa4c-e35ad0009c67_ContentBits">
    <vt:lpwstr>2</vt:lpwstr>
  </property>
  <property fmtid="{D5CDD505-2E9C-101B-9397-08002B2CF9AE}" pid="9" name="MSIP_Label_4fc996bf-6aee-415c-aa4c-e35ad0009c67_Tag">
    <vt:lpwstr>10, 3, 0, 1</vt:lpwstr>
  </property>
  <property fmtid="{D5CDD505-2E9C-101B-9397-08002B2CF9AE}" pid="10" name="ClassificationContentMarkingFooterLocations">
    <vt:lpwstr>Tema do Office:3</vt:lpwstr>
  </property>
  <property fmtid="{D5CDD505-2E9C-101B-9397-08002B2CF9AE}" pid="11" name="ClassificationContentMarkingFooterText">
    <vt:lpwstr>Corporativo | Interno</vt:lpwstr>
  </property>
</Properties>
</file>